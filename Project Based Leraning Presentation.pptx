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71" r:id="rId3"/>
    <p:sldId id="286" r:id="rId4"/>
    <p:sldId id="277" r:id="rId5"/>
    <p:sldId id="287" r:id="rId6"/>
    <p:sldId id="289" r:id="rId7"/>
    <p:sldId id="290" r:id="rId8"/>
    <p:sldId id="288" r:id="rId9"/>
    <p:sldId id="278" r:id="rId10"/>
    <p:sldId id="280" r:id="rId11"/>
    <p:sldId id="281" r:id="rId12"/>
    <p:sldId id="282" r:id="rId13"/>
    <p:sldId id="283" r:id="rId14"/>
    <p:sldId id="284" r:id="rId15"/>
    <p:sldId id="285" r:id="rId16"/>
    <p:sldId id="257" r:id="rId17"/>
    <p:sldId id="258" r:id="rId18"/>
    <p:sldId id="259" r:id="rId19"/>
    <p:sldId id="260" r:id="rId20"/>
    <p:sldId id="261" r:id="rId21"/>
    <p:sldId id="262" r:id="rId22"/>
    <p:sldId id="270" r:id="rId23"/>
    <p:sldId id="264" r:id="rId24"/>
    <p:sldId id="266" r:id="rId25"/>
    <p:sldId id="267" r:id="rId26"/>
    <p:sldId id="268" r:id="rId27"/>
    <p:sldId id="269" r:id="rId28"/>
  </p:sldIdLst>
  <p:sldSz cx="9144000" cy="5143500" type="screen16x9"/>
  <p:notesSz cx="7010400" cy="9296400"/>
  <p:embeddedFontLst>
    <p:embeddedFont>
      <p:font typeface="Old Standard TT" panose="020B0604020202020204" charset="0"/>
      <p:regular r:id="rId30"/>
      <p:bold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822" autoAdjust="0"/>
  </p:normalViewPr>
  <p:slideViewPr>
    <p:cSldViewPr snapToGrid="0">
      <p:cViewPr varScale="1">
        <p:scale>
          <a:sx n="92" d="100"/>
          <a:sy n="92" d="100"/>
        </p:scale>
        <p:origin x="21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Hello everyone, and welcome!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I’m so happy to see you all here today, and honestly, I’m very excited.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 truly hope we’ll have a wonderful and productive year together.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What I’ve observed is that our classes are </a:t>
            </a:r>
            <a:r>
              <a:rPr lang="en" b="1" dirty="0">
                <a:solidFill>
                  <a:schemeClr val="dk1"/>
                </a:solidFill>
              </a:rPr>
              <a:t>very rich in content</a:t>
            </a:r>
            <a:r>
              <a:rPr lang="en" dirty="0">
                <a:solidFill>
                  <a:schemeClr val="dk1"/>
                </a:solidFill>
              </a:rPr>
              <a:t> — teachers are doing a wonderful job in terms of subject knowledge.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However, when it comes to </a:t>
            </a:r>
            <a:r>
              <a:rPr lang="en" b="1" dirty="0">
                <a:solidFill>
                  <a:schemeClr val="dk1"/>
                </a:solidFill>
              </a:rPr>
              <a:t>pedagogy</a:t>
            </a:r>
            <a:r>
              <a:rPr lang="en" dirty="0">
                <a:solidFill>
                  <a:schemeClr val="dk1"/>
                </a:solidFill>
              </a:rPr>
              <a:t>, I’ve realized that while instruction is solid, it doesn’t always fully reflect the </a:t>
            </a:r>
            <a:r>
              <a:rPr lang="en" b="1" dirty="0">
                <a:solidFill>
                  <a:schemeClr val="dk1"/>
                </a:solidFill>
              </a:rPr>
              <a:t>most recent research and practices in science education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Based on my observations, almost all of the science classes at TMSA will move into the critical change phase, except for the 5th grade. And I want to thank you all for your hard work and dedication.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678F73B6-B7A3-41E2-51BC-93A68042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39C51A92-5379-1739-3C16-7BD5C881A8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3F09CD86-5F1D-BE9E-90CB-C5DDEA418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Understanding is not enough in science classrooms — I’ll tell you a bit more about that in a moment.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So in this example, what students are practicing?----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Their thinking is limited in these hands on practice.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7240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From now on, we are moving away from </a:t>
            </a:r>
            <a:r>
              <a:rPr lang="en-US" b="1" dirty="0"/>
              <a:t>hands-on learning</a:t>
            </a:r>
            <a:r>
              <a:rPr lang="en-US" dirty="0"/>
              <a:t> as a primary strategy.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br>
              <a:rPr lang="en-US" dirty="0"/>
            </a:br>
            <a:r>
              <a:rPr lang="en-US" dirty="0"/>
              <a:t>At TMSA, we no longer want to hear “hands-on learning” used as an instructional focus.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br>
              <a:rPr lang="en-US" dirty="0"/>
            </a:br>
            <a:r>
              <a:rPr lang="en-US" dirty="0"/>
              <a:t>The Central Office’s expectation is to shift toward </a:t>
            </a:r>
            <a:r>
              <a:rPr lang="en-US" b="1" dirty="0"/>
              <a:t>minds-on, project-based, and reasoning-centered science teaching.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626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4187FAA5-8D4E-F506-57B3-25855D4E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6676BB30-309B-E5E0-84A5-D5C9C0DAF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6021AC9D-FDC0-83A5-BF51-BB157741A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So here we have skills or practice like thinking, reasoning, asking why and how questions, but still we have </a:t>
            </a:r>
            <a:r>
              <a:rPr lang="en-US" dirty="0" err="1"/>
              <a:t>sth</a:t>
            </a:r>
            <a:r>
              <a:rPr lang="en-US" dirty="0"/>
              <a:t> missing which is very important. 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Lets look at here so we will see what is missing in inquiry based learning.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Bu </a:t>
            </a:r>
            <a:r>
              <a:rPr lang="en-US" dirty="0" err="1"/>
              <a:t>kismi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slayt</a:t>
            </a:r>
            <a:r>
              <a:rPr lang="en-US" dirty="0"/>
              <a:t> a 2. </a:t>
            </a:r>
            <a:r>
              <a:rPr lang="en-US" dirty="0" err="1"/>
              <a:t>sefer</a:t>
            </a:r>
            <a:r>
              <a:rPr lang="en-US" dirty="0"/>
              <a:t> </a:t>
            </a:r>
            <a:r>
              <a:rPr lang="en-US" dirty="0" err="1"/>
              <a:t>dondugunde</a:t>
            </a:r>
            <a:r>
              <a:rPr lang="en-US" dirty="0"/>
              <a:t> sole: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dirty="0"/>
          </a:p>
          <a:p>
            <a:pPr marL="139700" indent="0">
              <a:buNone/>
            </a:pPr>
            <a:r>
              <a:rPr lang="en-US" sz="1100" b="1" dirty="0">
                <a:solidFill>
                  <a:srgbClr val="C00000"/>
                </a:solidFill>
              </a:rPr>
              <a:t>Limitation:</a:t>
            </a:r>
            <a:endParaRPr lang="en-US" sz="1100" dirty="0">
              <a:solidFill>
                <a:srgbClr val="C00000"/>
              </a:solidFill>
            </a:endParaRPr>
          </a:p>
          <a:p>
            <a:r>
              <a:rPr lang="en-US" sz="1100" dirty="0">
                <a:solidFill>
                  <a:srgbClr val="C00000"/>
                </a:solidFill>
              </a:rPr>
              <a:t>Often short-term or focused on a single concept</a:t>
            </a:r>
          </a:p>
          <a:p>
            <a:r>
              <a:rPr lang="en-US" sz="1100" dirty="0">
                <a:solidFill>
                  <a:srgbClr val="C00000"/>
                </a:solidFill>
              </a:rPr>
              <a:t>May not always connect directly to real-world contexts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1177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define it?</a:t>
            </a:r>
          </a:p>
        </p:txBody>
      </p:sp>
    </p:spTree>
    <p:extLst>
      <p:ext uri="{BB962C8B-B14F-4D97-AF65-F5344CB8AC3E}">
        <p14:creationId xmlns:p14="http://schemas.microsoft.com/office/powerpoint/2010/main" val="227916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29EBA34F-7568-5BD6-9A61-D17F1D11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5:notes">
            <a:extLst>
              <a:ext uri="{FF2B5EF4-FFF2-40B4-BE49-F238E27FC236}">
                <a16:creationId xmlns:a16="http://schemas.microsoft.com/office/drawing/2014/main" id="{7B6DF702-674E-6D85-6881-F58E22D5E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5:notes">
            <a:extLst>
              <a:ext uri="{FF2B5EF4-FFF2-40B4-BE49-F238E27FC236}">
                <a16:creationId xmlns:a16="http://schemas.microsoft.com/office/drawing/2014/main" id="{5B9D8BDE-C38F-4F53-3C81-0A33C7B58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-US" sz="6000" dirty="0">
                <a:solidFill>
                  <a:schemeClr val="dk1"/>
                </a:solidFill>
              </a:rPr>
              <a:t>Let’s dive a bit deeper into this idea and see what each part really means.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sz="6000" dirty="0">
                <a:solidFill>
                  <a:schemeClr val="dk1"/>
                </a:solidFill>
              </a:rPr>
              <a:t>Science is not just a collection of facts or formulas — it is a way of thinking and making sense of the world. It is the human process of observing patterns, asking questions, testing ideas, and using evidence to explain how things work.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sz="6000" dirty="0">
                <a:solidFill>
                  <a:schemeClr val="dk1"/>
                </a:solidFill>
              </a:rPr>
              <a:t>True science happens when curiosity meets reasoning. It empowers learners to move from </a:t>
            </a:r>
            <a:r>
              <a:rPr lang="en-US" sz="6000" i="1" dirty="0">
                <a:solidFill>
                  <a:schemeClr val="dk1"/>
                </a:solidFill>
              </a:rPr>
              <a:t>wondering</a:t>
            </a:r>
            <a:r>
              <a:rPr lang="en-US" sz="6000" dirty="0">
                <a:solidFill>
                  <a:schemeClr val="dk1"/>
                </a:solidFill>
              </a:rPr>
              <a:t> to </a:t>
            </a:r>
            <a:r>
              <a:rPr lang="en-US" sz="6000" i="1" dirty="0">
                <a:solidFill>
                  <a:schemeClr val="dk1"/>
                </a:solidFill>
              </a:rPr>
              <a:t>understanding</a:t>
            </a:r>
            <a:r>
              <a:rPr lang="en-US" sz="6000" dirty="0">
                <a:solidFill>
                  <a:schemeClr val="dk1"/>
                </a:solidFill>
              </a:rPr>
              <a:t>, from </a:t>
            </a:r>
            <a:r>
              <a:rPr lang="en-US" sz="6000" i="1" dirty="0">
                <a:solidFill>
                  <a:schemeClr val="dk1"/>
                </a:solidFill>
              </a:rPr>
              <a:t>observing</a:t>
            </a:r>
            <a:r>
              <a:rPr lang="en-US" sz="6000" dirty="0">
                <a:solidFill>
                  <a:schemeClr val="dk1"/>
                </a:solidFill>
              </a:rPr>
              <a:t> to </a:t>
            </a:r>
            <a:r>
              <a:rPr lang="en-US" sz="6000" i="1" dirty="0">
                <a:solidFill>
                  <a:schemeClr val="dk1"/>
                </a:solidFill>
              </a:rPr>
              <a:t>explaining</a:t>
            </a:r>
            <a:r>
              <a:rPr lang="en-US" sz="6000" dirty="0">
                <a:solidFill>
                  <a:schemeClr val="dk1"/>
                </a:solidFill>
              </a:rPr>
              <a:t>, and from </a:t>
            </a:r>
            <a:r>
              <a:rPr lang="en-US" sz="6000" i="1" dirty="0">
                <a:solidFill>
                  <a:schemeClr val="dk1"/>
                </a:solidFill>
              </a:rPr>
              <a:t>knowing</a:t>
            </a:r>
            <a:r>
              <a:rPr lang="en-US" sz="6000" dirty="0">
                <a:solidFill>
                  <a:schemeClr val="dk1"/>
                </a:solidFill>
              </a:rPr>
              <a:t> to </a:t>
            </a:r>
            <a:r>
              <a:rPr lang="en-US" sz="6000" i="1" dirty="0">
                <a:solidFill>
                  <a:schemeClr val="dk1"/>
                </a:solidFill>
              </a:rPr>
              <a:t>applying. They know so much but when it comes to applying, they fail. 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sz="6000" dirty="0">
                <a:solidFill>
                  <a:schemeClr val="dk1"/>
                </a:solidFill>
              </a:rPr>
              <a:t>In education, science is not about giving students the right answers, but about helping them develop the habits of mind — questioning, reasoning, experimenting, and reflecting — that allow them to construct meaning for themselves.</a:t>
            </a:r>
          </a:p>
          <a:p>
            <a:pPr marL="0" indent="0">
              <a:spcBef>
                <a:spcPts val="1223"/>
              </a:spcBef>
              <a:buNone/>
            </a:pPr>
            <a:endParaRPr lang="en-US" sz="6000" dirty="0"/>
          </a:p>
          <a:p>
            <a:pPr marL="0" indent="0">
              <a:spcBef>
                <a:spcPts val="1223"/>
              </a:spcBef>
              <a:buNone/>
            </a:pPr>
            <a:r>
              <a:rPr lang="en-US" sz="6000" dirty="0"/>
              <a:t>I looked at the EOG questions and the standards, and from my analysis, it’s clear that students really need to operate at a </a:t>
            </a:r>
            <a:r>
              <a:rPr lang="en-US" sz="6000" b="1" dirty="0"/>
              <a:t>make-sense level</a:t>
            </a:r>
            <a:r>
              <a:rPr lang="en-US" sz="6000" dirty="0"/>
              <a:t>, not just recall or memorization.</a:t>
            </a:r>
          </a:p>
          <a:p>
            <a:pPr marL="0" indent="0">
              <a:buNone/>
            </a:pPr>
            <a:endParaRPr sz="55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  <p:extLst>
      <p:ext uri="{BB962C8B-B14F-4D97-AF65-F5344CB8AC3E}">
        <p14:creationId xmlns:p14="http://schemas.microsoft.com/office/powerpoint/2010/main" val="3152099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TO </a:t>
            </a:r>
          </a:p>
          <a:p>
            <a:endParaRPr lang="en-US" dirty="0"/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i="1" dirty="0">
                <a:solidFill>
                  <a:schemeClr val="dk1"/>
                </a:solidFill>
              </a:rPr>
              <a:t>Our </a:t>
            </a:r>
            <a:r>
              <a:rPr lang="en-US" i="1" dirty="0" err="1">
                <a:solidFill>
                  <a:schemeClr val="dk1"/>
                </a:solidFill>
              </a:rPr>
              <a:t>studnets</a:t>
            </a:r>
            <a:r>
              <a:rPr lang="en-US" i="1" dirty="0">
                <a:solidFill>
                  <a:schemeClr val="dk1"/>
                </a:solidFill>
              </a:rPr>
              <a:t> know so much but when it comes to applying, they fail.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930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Do you see the difference?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 If students never reach the </a:t>
            </a:r>
            <a:r>
              <a:rPr lang="en-US" i="1" dirty="0">
                <a:solidFill>
                  <a:schemeClr val="dk1"/>
                </a:solidFill>
              </a:rPr>
              <a:t>make sense</a:t>
            </a:r>
            <a:r>
              <a:rPr lang="en-US" dirty="0">
                <a:solidFill>
                  <a:schemeClr val="dk1"/>
                </a:solidFill>
              </a:rPr>
              <a:t> level, true problem solving ability or innovation, design thinking  cannot emerge. They might understand things in a general way, but they will think and act just like everyone else — doing what’s expected, not what’s original.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What we want is to raise a generation of learners who can look at the world’s problems from different perspectives and create unique solutions — individuals who can think beyond what already exists and imagine what could be.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77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3A2EE91-B263-85B1-D352-37C04189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17553E2E-4951-81F3-64F0-6165FC8DBD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B0CA32A8-65E7-AFAD-B773-262F61531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56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 Summary</a:t>
            </a:r>
          </a:p>
          <a:p>
            <a:r>
              <a:rPr lang="en-US" b="1" dirty="0"/>
              <a:t>Hands-on:</a:t>
            </a:r>
            <a:r>
              <a:rPr lang="en-US" dirty="0"/>
              <a:t> Students </a:t>
            </a:r>
            <a:r>
              <a:rPr lang="en-US" i="1" dirty="0"/>
              <a:t>do.</a:t>
            </a:r>
            <a:endParaRPr lang="en-US" dirty="0"/>
          </a:p>
          <a:p>
            <a:r>
              <a:rPr lang="en-US" b="1" dirty="0"/>
              <a:t>Inquiry-based:</a:t>
            </a:r>
            <a:r>
              <a:rPr lang="en-US" dirty="0"/>
              <a:t> Students </a:t>
            </a:r>
            <a:r>
              <a:rPr lang="en-US" i="1" dirty="0"/>
              <a:t>think and investigate.</a:t>
            </a:r>
            <a:endParaRPr lang="en-US" dirty="0"/>
          </a:p>
          <a:p>
            <a:r>
              <a:rPr lang="en-US" b="1" dirty="0"/>
              <a:t>Project-based:</a:t>
            </a:r>
            <a:r>
              <a:rPr lang="en-US" dirty="0"/>
              <a:t> Students </a:t>
            </a:r>
            <a:r>
              <a:rPr lang="en-US" i="1" dirty="0"/>
              <a:t>apply, solve, and create.</a:t>
            </a:r>
            <a:endParaRPr lang="en-US" dirty="0"/>
          </a:p>
          <a:p>
            <a:r>
              <a:rPr lang="en-US" dirty="0"/>
              <a:t>🔹 </a:t>
            </a:r>
            <a:r>
              <a:rPr lang="en-US" i="1" dirty="0"/>
              <a:t>Hands-on = experience</a:t>
            </a:r>
            <a:br>
              <a:rPr lang="en-US" dirty="0"/>
            </a:br>
            <a:r>
              <a:rPr lang="en-US" dirty="0"/>
              <a:t>🔹 </a:t>
            </a:r>
            <a:r>
              <a:rPr lang="en-US" i="1" dirty="0"/>
              <a:t>Inquiry-based = reasoning</a:t>
            </a:r>
            <a:br>
              <a:rPr lang="en-US" dirty="0"/>
            </a:br>
            <a:r>
              <a:rPr lang="en-US" dirty="0"/>
              <a:t>🔹 </a:t>
            </a:r>
            <a:r>
              <a:rPr lang="en-US" i="1" dirty="0"/>
              <a:t>Project-based = application + creation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879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E7AC7987-F8FF-BDD4-3239-20FAE2F2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7A2152FE-245B-206F-1E85-57A51F219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AD90373C-BE3C-6EA0-E656-224AC4E97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Unfortunately, my camera isn’t placed on the big screen, so you’ll be seeing me from the side. I need to get a camera that sits on top of the main screen.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Hello everyone, and welcome!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I’m so happy to see you all here today, and honestly, I’m very excited.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 truly hope we’ll have a wonderful and productive year together.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Well, you see me in the classroom bc I decided to start with the observations since this is </a:t>
            </a:r>
            <a:r>
              <a:rPr lang="en" b="1" dirty="0">
                <a:solidFill>
                  <a:schemeClr val="dk1"/>
                </a:solidFill>
              </a:rPr>
              <a:t>my first year at TMSA</a:t>
            </a:r>
            <a:r>
              <a:rPr lang="en" dirty="0">
                <a:solidFill>
                  <a:schemeClr val="dk1"/>
                </a:solidFill>
              </a:rPr>
              <a:t>, and at the beginning, I had </a:t>
            </a:r>
            <a:r>
              <a:rPr lang="en" b="1" dirty="0">
                <a:solidFill>
                  <a:schemeClr val="dk1"/>
                </a:solidFill>
              </a:rPr>
              <a:t>no clear idea about how the science classes were structured at TMSA.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Now I’ve </a:t>
            </a:r>
            <a:r>
              <a:rPr lang="en" b="1" dirty="0">
                <a:solidFill>
                  <a:schemeClr val="dk1"/>
                </a:solidFill>
              </a:rPr>
              <a:t>almost completed observations in all eight schools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What I’ve observed is that our classes are </a:t>
            </a:r>
            <a:r>
              <a:rPr lang="en" b="1" dirty="0">
                <a:solidFill>
                  <a:schemeClr val="dk1"/>
                </a:solidFill>
              </a:rPr>
              <a:t>very rich in content</a:t>
            </a:r>
            <a:r>
              <a:rPr lang="en" dirty="0">
                <a:solidFill>
                  <a:schemeClr val="dk1"/>
                </a:solidFill>
              </a:rPr>
              <a:t> — teachers are doing a wonderful job in terms of subject knowledge.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However, when it comes to </a:t>
            </a:r>
            <a:r>
              <a:rPr lang="en" b="1" dirty="0">
                <a:solidFill>
                  <a:schemeClr val="dk1"/>
                </a:solidFill>
              </a:rPr>
              <a:t>pedagogy</a:t>
            </a:r>
            <a:r>
              <a:rPr lang="en" dirty="0">
                <a:solidFill>
                  <a:schemeClr val="dk1"/>
                </a:solidFill>
              </a:rPr>
              <a:t>, I’ve realized that while instruction is solid, it doesn’t always fully reflect the </a:t>
            </a:r>
            <a:r>
              <a:rPr lang="en" b="1" dirty="0">
                <a:solidFill>
                  <a:schemeClr val="dk1"/>
                </a:solidFill>
              </a:rPr>
              <a:t>most recent research and practices in science education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Based on my observations, almost all of the science classes at TMSA will move into the critical change phase, except for the 5th grade. And I want to thank you all for your hard work and dedication.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1731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14158E81-A5F2-CD7C-12F4-FD04DFF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36EC3129-EA78-2385-3F11-3B90B05B7F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3D03FB71-67A5-3E3D-8155-B5AD52D8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Unfortunately, my camera isn’t placed on the big screen, so you’ll be seeing me from the side. I need to get a camera that sits on top of the main screen.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Hello everyone, and welcome!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I’m so happy to see you all here today, and honestly, I’m very excited.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 truly hope we’ll have a wonderful and productive year together.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Well, you see me in the classroom bc I decided to start with the observations since this is </a:t>
            </a:r>
            <a:r>
              <a:rPr lang="en" b="1" dirty="0">
                <a:solidFill>
                  <a:schemeClr val="dk1"/>
                </a:solidFill>
              </a:rPr>
              <a:t>my first year at TMSA</a:t>
            </a:r>
            <a:r>
              <a:rPr lang="en" dirty="0">
                <a:solidFill>
                  <a:schemeClr val="dk1"/>
                </a:solidFill>
              </a:rPr>
              <a:t>, and at the beginning, I had </a:t>
            </a:r>
            <a:r>
              <a:rPr lang="en" b="1" dirty="0">
                <a:solidFill>
                  <a:schemeClr val="dk1"/>
                </a:solidFill>
              </a:rPr>
              <a:t>no clear idea about how the science classes were structured at TMSA.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Now I’ve </a:t>
            </a:r>
            <a:r>
              <a:rPr lang="en" b="1" dirty="0">
                <a:solidFill>
                  <a:schemeClr val="dk1"/>
                </a:solidFill>
              </a:rPr>
              <a:t>almost completed observations in all eight schools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What I’ve observed is that our classes are </a:t>
            </a:r>
            <a:r>
              <a:rPr lang="en" b="1" dirty="0">
                <a:solidFill>
                  <a:schemeClr val="dk1"/>
                </a:solidFill>
              </a:rPr>
              <a:t>very rich in content</a:t>
            </a:r>
            <a:r>
              <a:rPr lang="en" dirty="0">
                <a:solidFill>
                  <a:schemeClr val="dk1"/>
                </a:solidFill>
              </a:rPr>
              <a:t> — teachers are doing a wonderful job in terms of subject knowledge.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However, when it comes to </a:t>
            </a:r>
            <a:r>
              <a:rPr lang="en" b="1" dirty="0">
                <a:solidFill>
                  <a:schemeClr val="dk1"/>
                </a:solidFill>
              </a:rPr>
              <a:t>pedagogy</a:t>
            </a:r>
            <a:r>
              <a:rPr lang="en" dirty="0">
                <a:solidFill>
                  <a:schemeClr val="dk1"/>
                </a:solidFill>
              </a:rPr>
              <a:t>, I’ve realized that while instruction is solid, it doesn’t always fully reflect the </a:t>
            </a:r>
            <a:r>
              <a:rPr lang="en" b="1" dirty="0">
                <a:solidFill>
                  <a:schemeClr val="dk1"/>
                </a:solidFill>
              </a:rPr>
              <a:t>most recent research and practices in science education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Based on my observations, almost all of the science classes at TMSA will move into the critical change phase, except for the 5th grade. And I want to thank you all for your hard work and dedication.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2410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E7468573-888E-1AB4-95DD-27CA9C91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996C554C-AA76-BC6C-2440-E8E7F7870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6B469189-C003-65DF-0265-0C5D8A552B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-US" dirty="0"/>
              <a:t>Unfortunately, my camera isn’t placed on the big screen, so you’ll be seeing me from the side. I need to get a camera that sits on top of the main screen.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lang="en-US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Hello everyone, and welcome!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I’m so happy to see you all here today, and honestly, I’m very excited.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 truly hope we’ll have a wonderful and productive year together.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Well, you see me in the classroom bc I decided to start with the observations since this is </a:t>
            </a:r>
            <a:r>
              <a:rPr lang="en" b="1" dirty="0">
                <a:solidFill>
                  <a:schemeClr val="dk1"/>
                </a:solidFill>
              </a:rPr>
              <a:t>my first year at TMSA</a:t>
            </a:r>
            <a:r>
              <a:rPr lang="en" dirty="0">
                <a:solidFill>
                  <a:schemeClr val="dk1"/>
                </a:solidFill>
              </a:rPr>
              <a:t>, and at the beginning, I had </a:t>
            </a:r>
            <a:r>
              <a:rPr lang="en" b="1" dirty="0">
                <a:solidFill>
                  <a:schemeClr val="dk1"/>
                </a:solidFill>
              </a:rPr>
              <a:t>no clear idea about how the science classes were structured at TMSA.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Now I’ve </a:t>
            </a:r>
            <a:r>
              <a:rPr lang="en" b="1" dirty="0">
                <a:solidFill>
                  <a:schemeClr val="dk1"/>
                </a:solidFill>
              </a:rPr>
              <a:t>almost completed observations in all eight schools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What I’ve observed is that our classes are </a:t>
            </a:r>
            <a:r>
              <a:rPr lang="en" b="1" dirty="0">
                <a:solidFill>
                  <a:schemeClr val="dk1"/>
                </a:solidFill>
              </a:rPr>
              <a:t>very rich in content</a:t>
            </a:r>
            <a:r>
              <a:rPr lang="en" dirty="0">
                <a:solidFill>
                  <a:schemeClr val="dk1"/>
                </a:solidFill>
              </a:rPr>
              <a:t> — teachers are doing a wonderful job in terms of subject knowledge.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However, when it comes to </a:t>
            </a:r>
            <a:r>
              <a:rPr lang="en" b="1" dirty="0">
                <a:solidFill>
                  <a:schemeClr val="dk1"/>
                </a:solidFill>
              </a:rPr>
              <a:t>pedagogy</a:t>
            </a:r>
            <a:r>
              <a:rPr lang="en" dirty="0">
                <a:solidFill>
                  <a:schemeClr val="dk1"/>
                </a:solidFill>
              </a:rPr>
              <a:t>, I’ve realized that while instruction is solid, it doesn’t always fully reflect the </a:t>
            </a:r>
            <a:r>
              <a:rPr lang="en" b="1" dirty="0">
                <a:solidFill>
                  <a:schemeClr val="dk1"/>
                </a:solidFill>
              </a:rPr>
              <a:t>most recent research and practices in science education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Based on my observations, almost all of the science classes at TMSA will move into the critical change phase, except for the 5th grade. And I want to thank you all for your hard work and dedication.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6078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CB43-47BD-7E96-5153-76F9F662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73C7C-0FF0-078F-CF64-0702FFF2B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2FA23-A7B2-CDEE-D660-16E969643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 Summary</a:t>
            </a:r>
          </a:p>
          <a:p>
            <a:r>
              <a:rPr lang="en-US" b="1" dirty="0"/>
              <a:t>Hands-on:</a:t>
            </a:r>
            <a:r>
              <a:rPr lang="en-US" dirty="0"/>
              <a:t> Students </a:t>
            </a:r>
            <a:r>
              <a:rPr lang="en-US" i="1" dirty="0"/>
              <a:t>do.</a:t>
            </a:r>
            <a:endParaRPr lang="en-US" dirty="0"/>
          </a:p>
          <a:p>
            <a:r>
              <a:rPr lang="en-US" b="1" dirty="0"/>
              <a:t>Inquiry-based:</a:t>
            </a:r>
            <a:r>
              <a:rPr lang="en-US" dirty="0"/>
              <a:t> Students </a:t>
            </a:r>
            <a:r>
              <a:rPr lang="en-US" i="1" dirty="0"/>
              <a:t>think and investigate.</a:t>
            </a:r>
            <a:endParaRPr lang="en-US" dirty="0"/>
          </a:p>
          <a:p>
            <a:r>
              <a:rPr lang="en-US" b="1" dirty="0"/>
              <a:t>Project-based:</a:t>
            </a:r>
            <a:r>
              <a:rPr lang="en-US" dirty="0"/>
              <a:t> Students </a:t>
            </a:r>
            <a:r>
              <a:rPr lang="en-US" i="1" dirty="0"/>
              <a:t>apply, solve, and create.</a:t>
            </a:r>
            <a:endParaRPr lang="en-US" dirty="0"/>
          </a:p>
          <a:p>
            <a:r>
              <a:rPr lang="en-US" dirty="0"/>
              <a:t>🔹 </a:t>
            </a:r>
            <a:r>
              <a:rPr lang="en-US" i="1" dirty="0"/>
              <a:t>Hands-on = experience</a:t>
            </a:r>
            <a:br>
              <a:rPr lang="en-US" dirty="0"/>
            </a:br>
            <a:r>
              <a:rPr lang="en-US" dirty="0"/>
              <a:t>🔹 </a:t>
            </a:r>
            <a:r>
              <a:rPr lang="en-US" i="1" dirty="0"/>
              <a:t>Inquiry-based = reasoning</a:t>
            </a:r>
            <a:br>
              <a:rPr lang="en-US" dirty="0"/>
            </a:br>
            <a:r>
              <a:rPr lang="en-US" dirty="0"/>
              <a:t>🔹 </a:t>
            </a:r>
            <a:r>
              <a:rPr lang="en-US" i="1" dirty="0"/>
              <a:t>Project-based = application + creation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creating a </a:t>
            </a:r>
            <a:r>
              <a:rPr lang="en-US" b="1" dirty="0"/>
              <a:t>driving question</a:t>
            </a:r>
            <a:r>
              <a:rPr lang="en-US" dirty="0"/>
              <a:t>, you don’t even need to spend much time thinking on your own — you can get quick support from </a:t>
            </a:r>
            <a:r>
              <a:rPr lang="en-US" b="1" dirty="0"/>
              <a:t>AI tools like ChatGPT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Simply type something like:</a:t>
            </a:r>
            <a:br>
              <a:rPr lang="en-US" dirty="0"/>
            </a:br>
            <a:r>
              <a:rPr lang="en-US" b="1" dirty="0"/>
              <a:t>“I’m planning a project-based learning lesson on X topic. Can you help me write a driving question for it?”</a:t>
            </a:r>
            <a:endParaRPr lang="en-US" dirty="0"/>
          </a:p>
          <a:p>
            <a:r>
              <a:rPr lang="en-US" dirty="0"/>
              <a:t>Within seconds, AI will suggest several high-quality, open-ended questions that you can adapt to your students’ grade level and context.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“I’m doing a project-based learning lesson on weather patterns. Can you suggest a driving question for 4th graders?”</a:t>
            </a:r>
          </a:p>
          <a:p>
            <a:r>
              <a:rPr lang="en-US" dirty="0"/>
              <a:t>AI might give you:</a:t>
            </a:r>
          </a:p>
          <a:p>
            <a:r>
              <a:rPr lang="en-US" dirty="0"/>
              <a:t>🌦️ “How can we help our community prepare for extreme weather?”</a:t>
            </a:r>
            <a:br>
              <a:rPr lang="en-US" dirty="0"/>
            </a:br>
            <a:r>
              <a:rPr lang="en-US" dirty="0"/>
              <a:t>🌪️ “Why does the weather change, and how can we predict it?”</a:t>
            </a:r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952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I’d like you to take about </a:t>
            </a:r>
            <a:r>
              <a:rPr lang="en-US" b="1" dirty="0"/>
              <a:t>five minutes</a:t>
            </a:r>
            <a:r>
              <a:rPr lang="en-US" dirty="0"/>
              <a:t> to think about this.</a:t>
            </a:r>
            <a:br>
              <a:rPr lang="en-US" dirty="0"/>
            </a:br>
            <a:r>
              <a:rPr lang="en-US" dirty="0"/>
              <a:t>For a given topic, imagine how it would look if it were taught as </a:t>
            </a:r>
            <a:r>
              <a:rPr lang="en-US" b="1" dirty="0"/>
              <a:t>hands-on</a:t>
            </a:r>
            <a:r>
              <a:rPr lang="en-US" dirty="0"/>
              <a:t>, </a:t>
            </a:r>
            <a:r>
              <a:rPr lang="en-US" b="1" dirty="0"/>
              <a:t>inquiry-based</a:t>
            </a:r>
            <a:r>
              <a:rPr lang="en-US" dirty="0"/>
              <a:t>, and </a:t>
            </a:r>
            <a:r>
              <a:rPr lang="en-US" b="1" dirty="0"/>
              <a:t>project-based</a:t>
            </a:r>
            <a:r>
              <a:rPr lang="en-US" dirty="0"/>
              <a:t>.</a:t>
            </a:r>
          </a:p>
          <a:p>
            <a:r>
              <a:rPr lang="en-US" dirty="0"/>
              <a:t>Please come up with </a:t>
            </a:r>
            <a:r>
              <a:rPr lang="en-US" b="1" dirty="0"/>
              <a:t>one question for each approach</a:t>
            </a:r>
            <a:r>
              <a:rPr lang="en-US" dirty="0"/>
              <a:t> — three questions total. Like driving question or the goal of the lesson for you.</a:t>
            </a:r>
          </a:p>
          <a:p>
            <a:r>
              <a:rPr lang="en-US" dirty="0"/>
              <a:t>Take your time and think carefully, because this practice will really help you when designing your future lessons.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86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93417e4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93417e4f_0_3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With your team, we’ll be able to start directly from the improvement phase — which is great! 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So Since I’ve done most of my research on </a:t>
            </a:r>
            <a:r>
              <a:rPr lang="en" b="1" dirty="0">
                <a:solidFill>
                  <a:schemeClr val="dk1"/>
                </a:solidFill>
              </a:rPr>
              <a:t>science pedagogy</a:t>
            </a:r>
            <a:r>
              <a:rPr lang="en" dirty="0">
                <a:solidFill>
                  <a:schemeClr val="dk1"/>
                </a:solidFill>
              </a:rPr>
              <a:t>, I’m quite familiar with </a:t>
            </a:r>
            <a:r>
              <a:rPr lang="en" b="1" dirty="0">
                <a:solidFill>
                  <a:schemeClr val="dk1"/>
                </a:solidFill>
              </a:rPr>
              <a:t>current educational practices and approaches</a:t>
            </a:r>
            <a:r>
              <a:rPr lang="en" dirty="0">
                <a:solidFill>
                  <a:schemeClr val="dk1"/>
                </a:solidFill>
              </a:rPr>
              <a:t>, and I’d really love for us to explore and improve these </a:t>
            </a:r>
            <a:r>
              <a:rPr lang="en" b="1" dirty="0">
                <a:solidFill>
                  <a:schemeClr val="dk1"/>
                </a:solidFill>
              </a:rPr>
              <a:t>together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For that reason, today I’d like to briefly share </a:t>
            </a:r>
            <a:r>
              <a:rPr lang="en" b="1" dirty="0">
                <a:solidFill>
                  <a:schemeClr val="dk1"/>
                </a:solidFill>
              </a:rPr>
              <a:t>a few ideas about some common misconceptions and educational theories</a:t>
            </a:r>
            <a:r>
              <a:rPr lang="en" dirty="0">
                <a:solidFill>
                  <a:schemeClr val="dk1"/>
                </a:solidFill>
              </a:rPr>
              <a:t> — just short insights that might help us connect our strong content knowledge with the most effective instructional strategies.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Today’s meeting is meant to clear up a few common </a:t>
            </a:r>
            <a:r>
              <a:rPr lang="en" b="1" dirty="0">
                <a:solidFill>
                  <a:schemeClr val="dk1"/>
                </a:solidFill>
              </a:rPr>
              <a:t>pedagogical misconceptions</a:t>
            </a:r>
            <a:r>
              <a:rPr lang="en" dirty="0">
                <a:solidFill>
                  <a:schemeClr val="dk1"/>
                </a:solidFill>
              </a:rPr>
              <a:t> and start a shared discussion about what effective science teaching really looks like.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 dirty="0">
                <a:solidFill>
                  <a:schemeClr val="dk1"/>
                </a:solidFill>
              </a:rPr>
              <a:t>After this, we’ll continue working together </a:t>
            </a:r>
            <a:r>
              <a:rPr lang="en" b="1" dirty="0">
                <a:solidFill>
                  <a:schemeClr val="dk1"/>
                </a:solidFill>
              </a:rPr>
              <a:t>in person</a:t>
            </a:r>
            <a:r>
              <a:rPr lang="en" dirty="0">
                <a:solidFill>
                  <a:schemeClr val="dk1"/>
                </a:solidFill>
              </a:rPr>
              <a:t> — continue visiting classrooms, collaborating, and supporting each other in practice.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093417e4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093417e4f_0_4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chemeClr val="dk1"/>
                </a:solidFill>
              </a:rPr>
              <a:t>We already have strong content, so our curriculum work will mainly focus on </a:t>
            </a:r>
            <a:r>
              <a:rPr lang="en" b="1" dirty="0">
                <a:solidFill>
                  <a:schemeClr val="dk1"/>
                </a:solidFill>
              </a:rPr>
              <a:t>pedagogy</a:t>
            </a:r>
            <a:r>
              <a:rPr lang="en" dirty="0">
                <a:solidFill>
                  <a:schemeClr val="dk1"/>
                </a:solidFill>
              </a:rPr>
              <a:t> — how we teach and how students experience learning instead of what we teach.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r>
              <a:rPr lang="en" sz="55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Difference between</a:t>
            </a:r>
            <a:r>
              <a:rPr lang="en" sz="5500" dirty="0">
                <a:solidFill>
                  <a:srgbClr val="FFFBF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5500" dirty="0"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55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comes to your mind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55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when you hear hands on and minds on.</a:t>
            </a:r>
            <a:endParaRPr sz="55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90357f_0_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27"/>
              </a:spcBef>
              <a:buClr>
                <a:schemeClr val="dk1"/>
              </a:buClr>
              <a:buSzPts val="1100"/>
              <a:buNone/>
            </a:pPr>
            <a:r>
              <a:rPr lang="en" sz="1300" b="1" dirty="0">
                <a:solidFill>
                  <a:schemeClr val="dk1"/>
                </a:solidFill>
              </a:rPr>
              <a:t>Which strategy is more effective for science learning? And why</a:t>
            </a:r>
            <a:endParaRPr sz="1300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408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Which strategy do you use most often in your classroom? And why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In the first example, students were physically active — they touched the toaster, followed directions, and completed a task. But their </a:t>
            </a:r>
            <a:r>
              <a:rPr lang="en" b="1" dirty="0">
                <a:solidFill>
                  <a:schemeClr val="dk1"/>
                </a:solidFill>
              </a:rPr>
              <a:t>thinking</a:t>
            </a:r>
            <a:r>
              <a:rPr lang="en" dirty="0">
                <a:solidFill>
                  <a:schemeClr val="dk1"/>
                </a:solidFill>
              </a:rPr>
              <a:t> was limited. They were simply following steps, not exploring concepts or reasoning scientifically.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In the second scenario, even though students didn’t touch anything, they were </a:t>
            </a:r>
            <a:r>
              <a:rPr lang="en" b="1" dirty="0">
                <a:solidFill>
                  <a:schemeClr val="dk1"/>
                </a:solidFill>
              </a:rPr>
              <a:t>actively engaged in thinking</a:t>
            </a:r>
            <a:r>
              <a:rPr lang="en" dirty="0">
                <a:solidFill>
                  <a:schemeClr val="dk1"/>
                </a:solidFill>
              </a:rPr>
              <a:t>. They observed, questioned, and connected ideas. 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That’s where </a:t>
            </a:r>
            <a:r>
              <a:rPr lang="en" b="1" dirty="0">
                <a:solidFill>
                  <a:schemeClr val="dk1"/>
                </a:solidFill>
              </a:rPr>
              <a:t>real science learning</a:t>
            </a:r>
            <a:r>
              <a:rPr lang="en" dirty="0">
                <a:solidFill>
                  <a:schemeClr val="dk1"/>
                </a:solidFill>
              </a:rPr>
              <a:t> begins — in the process of sensemaking, not just doing.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So, the key takeaway is this:</a:t>
            </a:r>
            <a:endParaRPr dirty="0">
              <a:solidFill>
                <a:schemeClr val="dk1"/>
              </a:solidFill>
            </a:endParaRPr>
          </a:p>
          <a:p>
            <a:pPr marL="388239" marR="388239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b="1" dirty="0">
                <a:solidFill>
                  <a:schemeClr val="dk1"/>
                </a:solidFill>
              </a:rPr>
              <a:t>A truly effective science lesson is not about how much students </a:t>
            </a:r>
            <a:r>
              <a:rPr lang="en" b="1" i="1" dirty="0">
                <a:solidFill>
                  <a:schemeClr val="dk1"/>
                </a:solidFill>
              </a:rPr>
              <a:t>do</a:t>
            </a:r>
            <a:r>
              <a:rPr lang="en" b="1" dirty="0">
                <a:solidFill>
                  <a:schemeClr val="dk1"/>
                </a:solidFill>
              </a:rPr>
              <a:t> with their hands, but how deeply they </a:t>
            </a:r>
            <a:r>
              <a:rPr lang="en" b="1" i="1" dirty="0">
                <a:solidFill>
                  <a:schemeClr val="dk1"/>
                </a:solidFill>
              </a:rPr>
              <a:t>think</a:t>
            </a:r>
            <a:r>
              <a:rPr lang="en" b="1" dirty="0">
                <a:solidFill>
                  <a:schemeClr val="dk1"/>
                </a:solidFill>
              </a:rPr>
              <a:t> with their minds.</a:t>
            </a:r>
            <a:endParaRPr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We can’t expect students to truly engage in solving real-world problems if everything they do follows a ready-made “recipe experiment.” They need to talk, think, and develop that sense of agency. For every global issue, teachers can’t simply hand them a fixed set of steps — we have to trust their knowledge and potential.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Are we really teaching students things they know nothing about — completely new ideas they’ve never experience before?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Or are we actually creating spaces where they can make sense of things they’ve already experienced, but haven’t yet fully understood?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Students often learn about topics at school that they’ve </a:t>
            </a:r>
            <a:r>
              <a:rPr lang="en" i="1" dirty="0">
                <a:solidFill>
                  <a:schemeClr val="dk1"/>
                </a:solidFill>
              </a:rPr>
              <a:t>already experience in their daily lives</a:t>
            </a:r>
            <a:r>
              <a:rPr lang="en" dirty="0">
                <a:solidFill>
                  <a:schemeClr val="dk1"/>
                </a:solidFill>
              </a:rPr>
              <a:t> — but without fully understanding them yet. For example:</a:t>
            </a:r>
            <a:endParaRPr dirty="0"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</a:pPr>
            <a:r>
              <a:rPr lang="en" b="1" dirty="0">
                <a:solidFill>
                  <a:schemeClr val="dk1"/>
                </a:solidFill>
              </a:rPr>
              <a:t>Weather and Climate:</a:t>
            </a:r>
            <a:r>
              <a:rPr lang="en" dirty="0">
                <a:solidFill>
                  <a:schemeClr val="dk1"/>
                </a:solidFill>
              </a:rPr>
              <a:t> They experience rain, wind, and temperature changes every day, but at school they learn to explain these patterns scientifically.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 b="1" dirty="0">
                <a:solidFill>
                  <a:schemeClr val="dk1"/>
                </a:solidFill>
              </a:rPr>
              <a:t>Forces and Motion:</a:t>
            </a:r>
            <a:r>
              <a:rPr lang="en" dirty="0">
                <a:solidFill>
                  <a:schemeClr val="dk1"/>
                </a:solidFill>
              </a:rPr>
              <a:t> Riding a bike, kicking a ball, or jumping are all experiences connected to Newton’s laws — they already know the actions, but now they learn the “why” behind them.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 b="1" dirty="0">
                <a:solidFill>
                  <a:schemeClr val="dk1"/>
                </a:solidFill>
              </a:rPr>
              <a:t>States of Matter:</a:t>
            </a:r>
            <a:r>
              <a:rPr lang="en" dirty="0">
                <a:solidFill>
                  <a:schemeClr val="dk1"/>
                </a:solidFill>
              </a:rPr>
              <a:t> They’ve seen ice melt or  water boil at home; science helps them make sense of these familiar phenomena.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 b="1" dirty="0">
                <a:solidFill>
                  <a:schemeClr val="dk1"/>
                </a:solidFill>
              </a:rPr>
              <a:t>Energy:</a:t>
            </a:r>
            <a:r>
              <a:rPr lang="en" dirty="0">
                <a:solidFill>
                  <a:schemeClr val="dk1"/>
                </a:solidFill>
              </a:rPr>
              <a:t> From charging a phone to feeling tired after running, they experience energy transfer constantly.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 b="1" dirty="0">
                <a:solidFill>
                  <a:schemeClr val="dk1"/>
                </a:solidFill>
              </a:rPr>
              <a:t>Problem Solving and Design Thinking:</a:t>
            </a:r>
            <a:r>
              <a:rPr lang="en" dirty="0">
                <a:solidFill>
                  <a:schemeClr val="dk1"/>
                </a:solidFill>
              </a:rPr>
              <a:t> When they try to fix a toy or build with Legos, they’re already engaging in the engineering process.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So, in many ways, we are not teaching students things they’ve </a:t>
            </a:r>
            <a:r>
              <a:rPr lang="en" i="1" dirty="0">
                <a:solidFill>
                  <a:schemeClr val="dk1"/>
                </a:solidFill>
              </a:rPr>
              <a:t>never seen before.</a:t>
            </a:r>
            <a:r>
              <a:rPr lang="en" dirty="0">
                <a:solidFill>
                  <a:schemeClr val="dk1"/>
                </a:solidFill>
              </a:rPr>
              <a:t> Instead, we’re helping them make sense of what they already know.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marR="388239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90357f_0_1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27"/>
              </a:spcBef>
              <a:buClr>
                <a:schemeClr val="dk1"/>
              </a:buClr>
              <a:buSzPts val="1100"/>
              <a:buNone/>
            </a:pPr>
            <a:r>
              <a:rPr lang="en" sz="1300" b="1" dirty="0">
                <a:solidFill>
                  <a:schemeClr val="dk1"/>
                </a:solidFill>
              </a:rPr>
              <a:t>Progression of Science Learning</a:t>
            </a:r>
            <a:endParaRPr sz="1300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1️⃣ First Image – Hands-On Exploration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Students are engaged in </a:t>
            </a:r>
            <a:r>
              <a:rPr lang="en" b="1" dirty="0">
                <a:solidFill>
                  <a:schemeClr val="dk1"/>
                </a:solidFill>
              </a:rPr>
              <a:t>hands-on investigation</a:t>
            </a:r>
            <a:r>
              <a:rPr lang="en" dirty="0">
                <a:solidFill>
                  <a:schemeClr val="dk1"/>
                </a:solidFill>
              </a:rPr>
              <a:t>, exploring phenomena through observation and manipulation. This stage is </a:t>
            </a:r>
            <a:r>
              <a:rPr lang="en" i="1" dirty="0">
                <a:solidFill>
                  <a:schemeClr val="dk1"/>
                </a:solidFill>
              </a:rPr>
              <a:t>research-based</a:t>
            </a:r>
            <a:r>
              <a:rPr lang="en" dirty="0">
                <a:solidFill>
                  <a:schemeClr val="dk1"/>
                </a:solidFill>
              </a:rPr>
              <a:t> and driven by curiosity — students are discovering patterns and making sense of what they see.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2️⃣ Second Image – Guided (Recipe) Lab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Here, students are working </a:t>
            </a:r>
            <a:r>
              <a:rPr lang="en" b="1" dirty="0">
                <a:solidFill>
                  <a:schemeClr val="dk1"/>
                </a:solidFill>
              </a:rPr>
              <a:t>under teacher direction</a:t>
            </a:r>
            <a:r>
              <a:rPr lang="en" dirty="0">
                <a:solidFill>
                  <a:schemeClr val="dk1"/>
                </a:solidFill>
              </a:rPr>
              <a:t>, following a step-by-step process — a </a:t>
            </a:r>
            <a:r>
              <a:rPr lang="en" i="1" dirty="0">
                <a:solidFill>
                  <a:schemeClr val="dk1"/>
                </a:solidFill>
              </a:rPr>
              <a:t>recipe lab</a:t>
            </a:r>
            <a:r>
              <a:rPr lang="en" dirty="0">
                <a:solidFill>
                  <a:schemeClr val="dk1"/>
                </a:solidFill>
              </a:rPr>
              <a:t>. It’s structured and controlled by the teacher, helping students connect what they explored earlier to formal scientific procedures.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b="1" dirty="0">
                <a:solidFill>
                  <a:schemeClr val="dk1"/>
                </a:solidFill>
              </a:rPr>
              <a:t>3️⃣ Third Image – Real-World Application / Design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In this phase, students use their </a:t>
            </a:r>
            <a:r>
              <a:rPr lang="en" b="1" dirty="0">
                <a:solidFill>
                  <a:schemeClr val="dk1"/>
                </a:solidFill>
              </a:rPr>
              <a:t>scientific knowledge to solve real-world problems</a:t>
            </a:r>
            <a:r>
              <a:rPr lang="en" dirty="0">
                <a:solidFill>
                  <a:schemeClr val="dk1"/>
                </a:solidFill>
              </a:rPr>
              <a:t>. They apply what they have learned to </a:t>
            </a:r>
            <a:r>
              <a:rPr lang="en" b="1" dirty="0">
                <a:solidFill>
                  <a:schemeClr val="dk1"/>
                </a:solidFill>
              </a:rPr>
              <a:t>design, innovate, or propose solutions</a:t>
            </a:r>
            <a:r>
              <a:rPr lang="en" dirty="0">
                <a:solidFill>
                  <a:schemeClr val="dk1"/>
                </a:solidFill>
              </a:rPr>
              <a:t> — demonstrating true understanding and creativity in using science beyond the classroom.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So, if we had to take one of these out, which do you think doesn’t really fit with </a:t>
            </a:r>
            <a:r>
              <a:rPr lang="en" b="1" dirty="0">
                <a:solidFill>
                  <a:schemeClr val="dk1"/>
                </a:solidFill>
              </a:rPr>
              <a:t>current research</a:t>
            </a:r>
            <a:r>
              <a:rPr lang="en" dirty="0">
                <a:solidFill>
                  <a:schemeClr val="dk1"/>
                </a:solidFill>
              </a:rPr>
              <a:t>?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427"/>
              </a:spcBef>
              <a:buClr>
                <a:schemeClr val="dk1"/>
              </a:buClr>
              <a:buSzPts val="1100"/>
              <a:buNone/>
            </a:pPr>
            <a:r>
              <a:rPr lang="en" sz="1300" b="1" dirty="0">
                <a:solidFill>
                  <a:schemeClr val="dk1"/>
                </a:solidFill>
              </a:rPr>
              <a:t>Difference Between the First and Last Image</a:t>
            </a:r>
            <a:endParaRPr sz="1300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The first image shows students </a:t>
            </a:r>
            <a:r>
              <a:rPr lang="en" b="1" dirty="0">
                <a:solidFill>
                  <a:schemeClr val="dk1"/>
                </a:solidFill>
              </a:rPr>
              <a:t>repeating something that has already been done</a:t>
            </a:r>
            <a:r>
              <a:rPr lang="en" dirty="0">
                <a:solidFill>
                  <a:schemeClr val="dk1"/>
                </a:solidFill>
              </a:rPr>
              <a:t>, using science to </a:t>
            </a:r>
            <a:r>
              <a:rPr lang="en" b="1" dirty="0">
                <a:solidFill>
                  <a:schemeClr val="dk1"/>
                </a:solidFill>
              </a:rPr>
              <a:t>understand and replicate</a:t>
            </a:r>
            <a:r>
              <a:rPr lang="en" dirty="0">
                <a:solidFill>
                  <a:schemeClr val="dk1"/>
                </a:solidFill>
              </a:rPr>
              <a:t> existing ideas or experiments.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In contrast, the last image shows students </a:t>
            </a:r>
            <a:r>
              <a:rPr lang="en" b="1" dirty="0">
                <a:solidFill>
                  <a:schemeClr val="dk1"/>
                </a:solidFill>
              </a:rPr>
              <a:t>applying their scientific knowledge</a:t>
            </a:r>
            <a:r>
              <a:rPr lang="en" dirty="0">
                <a:solidFill>
                  <a:schemeClr val="dk1"/>
                </a:solidFill>
              </a:rPr>
              <a:t> to </a:t>
            </a:r>
            <a:r>
              <a:rPr lang="en" b="1" dirty="0">
                <a:solidFill>
                  <a:schemeClr val="dk1"/>
                </a:solidFill>
              </a:rPr>
              <a:t>create solutions for real-world problems</a:t>
            </a:r>
            <a:r>
              <a:rPr lang="en" dirty="0">
                <a:solidFill>
                  <a:schemeClr val="dk1"/>
                </a:solidFill>
              </a:rPr>
              <a:t> — moving from </a:t>
            </a:r>
            <a:r>
              <a:rPr lang="en" i="1" dirty="0">
                <a:solidFill>
                  <a:schemeClr val="dk1"/>
                </a:solidFill>
              </a:rPr>
              <a:t>understanding science</a:t>
            </a:r>
            <a:r>
              <a:rPr lang="en" dirty="0">
                <a:solidFill>
                  <a:schemeClr val="dk1"/>
                </a:solidFill>
              </a:rPr>
              <a:t> to </a:t>
            </a:r>
            <a:r>
              <a:rPr lang="en" i="1" dirty="0">
                <a:solidFill>
                  <a:schemeClr val="dk1"/>
                </a:solidFill>
              </a:rPr>
              <a:t>applying science</a:t>
            </a:r>
            <a:r>
              <a:rPr lang="en" dirty="0">
                <a:solidFill>
                  <a:schemeClr val="dk1"/>
                </a:solidFill>
              </a:rPr>
              <a:t> to make a difference.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r>
              <a:rPr lang="en-US" dirty="0"/>
              <a:t>I’ll come back here.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9035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90357f_0_2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How do you define it?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A164BC49-4A00-7069-CFCE-6D561E74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90357f_0_19:notes">
            <a:extLst>
              <a:ext uri="{FF2B5EF4-FFF2-40B4-BE49-F238E27FC236}">
                <a16:creationId xmlns:a16="http://schemas.microsoft.com/office/drawing/2014/main" id="{72C99684-EE43-4269-7446-AC6207666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90357f_0_19:notes">
            <a:extLst>
              <a:ext uri="{FF2B5EF4-FFF2-40B4-BE49-F238E27FC236}">
                <a16:creationId xmlns:a16="http://schemas.microsoft.com/office/drawing/2014/main" id="{03787551-A32D-7326-E281-CBDC2F057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427"/>
              </a:spcBef>
              <a:buClr>
                <a:schemeClr val="dk1"/>
              </a:buClr>
              <a:buSzPts val="1100"/>
              <a:buNone/>
            </a:pPr>
            <a:r>
              <a:rPr lang="en" sz="1300" b="1" dirty="0">
                <a:solidFill>
                  <a:schemeClr val="dk1"/>
                </a:solidFill>
              </a:rPr>
              <a:t>Progression of Science Learning</a:t>
            </a:r>
            <a:endParaRPr sz="1300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1️⃣ First Image – Hands-On Exploration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Students are engaged in </a:t>
            </a:r>
            <a:r>
              <a:rPr lang="en" b="1" dirty="0">
                <a:solidFill>
                  <a:schemeClr val="dk1"/>
                </a:solidFill>
              </a:rPr>
              <a:t>hands-on investigation</a:t>
            </a:r>
            <a:r>
              <a:rPr lang="en" dirty="0">
                <a:solidFill>
                  <a:schemeClr val="dk1"/>
                </a:solidFill>
              </a:rPr>
              <a:t>, exploring phenomena through observation and manipulation. This stage is </a:t>
            </a:r>
            <a:r>
              <a:rPr lang="en" i="1" dirty="0">
                <a:solidFill>
                  <a:schemeClr val="dk1"/>
                </a:solidFill>
              </a:rPr>
              <a:t>research-based</a:t>
            </a:r>
            <a:r>
              <a:rPr lang="en" dirty="0">
                <a:solidFill>
                  <a:schemeClr val="dk1"/>
                </a:solidFill>
              </a:rPr>
              <a:t> and driven by curiosity — students are discovering patterns and making sense of what they see.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dk1"/>
                </a:solidFill>
              </a:rPr>
              <a:t>2️⃣ Second Image – Guided (Recipe) Lab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Here, students are working </a:t>
            </a:r>
            <a:r>
              <a:rPr lang="en" b="1" dirty="0">
                <a:solidFill>
                  <a:schemeClr val="dk1"/>
                </a:solidFill>
              </a:rPr>
              <a:t>under teacher direction</a:t>
            </a:r>
            <a:r>
              <a:rPr lang="en" dirty="0">
                <a:solidFill>
                  <a:schemeClr val="dk1"/>
                </a:solidFill>
              </a:rPr>
              <a:t>, following a step-by-step process — a </a:t>
            </a:r>
            <a:r>
              <a:rPr lang="en" i="1" dirty="0">
                <a:solidFill>
                  <a:schemeClr val="dk1"/>
                </a:solidFill>
              </a:rPr>
              <a:t>recipe lab</a:t>
            </a:r>
            <a:r>
              <a:rPr lang="en" dirty="0">
                <a:solidFill>
                  <a:schemeClr val="dk1"/>
                </a:solidFill>
              </a:rPr>
              <a:t>. It’s structured and controlled by the teacher, helping students connect what they explored earlier to formal scientific procedures.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b="1" dirty="0">
                <a:solidFill>
                  <a:schemeClr val="dk1"/>
                </a:solidFill>
              </a:rPr>
              <a:t>3️⃣ Third Image – Real-World Application / Design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In this phase, students use their </a:t>
            </a:r>
            <a:r>
              <a:rPr lang="en" b="1" dirty="0">
                <a:solidFill>
                  <a:schemeClr val="dk1"/>
                </a:solidFill>
              </a:rPr>
              <a:t>scientific knowledge to solve real-world problems</a:t>
            </a:r>
            <a:r>
              <a:rPr lang="en" dirty="0">
                <a:solidFill>
                  <a:schemeClr val="dk1"/>
                </a:solidFill>
              </a:rPr>
              <a:t>. They apply what they have learned to </a:t>
            </a:r>
            <a:r>
              <a:rPr lang="en" b="1" dirty="0">
                <a:solidFill>
                  <a:schemeClr val="dk1"/>
                </a:solidFill>
              </a:rPr>
              <a:t>design, innovate, or propose solutions</a:t>
            </a:r>
            <a:r>
              <a:rPr lang="en" dirty="0">
                <a:solidFill>
                  <a:schemeClr val="dk1"/>
                </a:solidFill>
              </a:rPr>
              <a:t> — demonstrating true understanding and creativity in using science beyond the classroom.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So, if we had to take one of these out, which do you think doesn’t really fit with </a:t>
            </a:r>
            <a:r>
              <a:rPr lang="en" b="1" dirty="0">
                <a:solidFill>
                  <a:schemeClr val="dk1"/>
                </a:solidFill>
              </a:rPr>
              <a:t>current research</a:t>
            </a:r>
            <a:r>
              <a:rPr lang="en" dirty="0">
                <a:solidFill>
                  <a:schemeClr val="dk1"/>
                </a:solidFill>
              </a:rPr>
              <a:t>?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427"/>
              </a:spcBef>
              <a:buClr>
                <a:schemeClr val="dk1"/>
              </a:buClr>
              <a:buSzPts val="1100"/>
              <a:buNone/>
            </a:pPr>
            <a:r>
              <a:rPr lang="en" sz="1300" b="1" dirty="0">
                <a:solidFill>
                  <a:schemeClr val="dk1"/>
                </a:solidFill>
              </a:rPr>
              <a:t>Difference Between the First and Last Image</a:t>
            </a:r>
            <a:endParaRPr sz="1300"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The first image shows students </a:t>
            </a:r>
            <a:r>
              <a:rPr lang="en" b="1" dirty="0">
                <a:solidFill>
                  <a:schemeClr val="dk1"/>
                </a:solidFill>
              </a:rPr>
              <a:t>repeating something that has already been done</a:t>
            </a:r>
            <a:r>
              <a:rPr lang="en" dirty="0">
                <a:solidFill>
                  <a:schemeClr val="dk1"/>
                </a:solidFill>
              </a:rPr>
              <a:t>, using science to </a:t>
            </a:r>
            <a:r>
              <a:rPr lang="en" b="1" dirty="0">
                <a:solidFill>
                  <a:schemeClr val="dk1"/>
                </a:solidFill>
              </a:rPr>
              <a:t>understand and replicate</a:t>
            </a:r>
            <a:r>
              <a:rPr lang="en" dirty="0">
                <a:solidFill>
                  <a:schemeClr val="dk1"/>
                </a:solidFill>
              </a:rPr>
              <a:t> existing ideas or experiments.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In contrast, the last image shows students </a:t>
            </a:r>
            <a:r>
              <a:rPr lang="en" b="1" dirty="0">
                <a:solidFill>
                  <a:schemeClr val="dk1"/>
                </a:solidFill>
              </a:rPr>
              <a:t>applying their scientific knowledge</a:t>
            </a:r>
            <a:r>
              <a:rPr lang="en" dirty="0">
                <a:solidFill>
                  <a:schemeClr val="dk1"/>
                </a:solidFill>
              </a:rPr>
              <a:t> to </a:t>
            </a:r>
            <a:r>
              <a:rPr lang="en" b="1" dirty="0">
                <a:solidFill>
                  <a:schemeClr val="dk1"/>
                </a:solidFill>
              </a:rPr>
              <a:t>create solutions for real-world problems</a:t>
            </a:r>
            <a:r>
              <a:rPr lang="en" dirty="0">
                <a:solidFill>
                  <a:schemeClr val="dk1"/>
                </a:solidFill>
              </a:rPr>
              <a:t> — moving from </a:t>
            </a:r>
            <a:r>
              <a:rPr lang="en" i="1" dirty="0">
                <a:solidFill>
                  <a:schemeClr val="dk1"/>
                </a:solidFill>
              </a:rPr>
              <a:t>understanding science</a:t>
            </a:r>
            <a:r>
              <a:rPr lang="en" dirty="0">
                <a:solidFill>
                  <a:schemeClr val="dk1"/>
                </a:solidFill>
              </a:rPr>
              <a:t> to </a:t>
            </a:r>
            <a:r>
              <a:rPr lang="en" i="1" dirty="0">
                <a:solidFill>
                  <a:schemeClr val="dk1"/>
                </a:solidFill>
              </a:rPr>
              <a:t>applying science</a:t>
            </a:r>
            <a:r>
              <a:rPr lang="en" dirty="0">
                <a:solidFill>
                  <a:schemeClr val="dk1"/>
                </a:solidFill>
              </a:rPr>
              <a:t> to make a difference.</a:t>
            </a: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r>
              <a:rPr lang="en-US" dirty="0"/>
              <a:t>I’ll come back here.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350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93417e4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093417e4f_0_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Do you see the difference?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If students never reach the </a:t>
            </a:r>
            <a:r>
              <a:rPr lang="en" i="1" dirty="0">
                <a:solidFill>
                  <a:schemeClr val="dk1"/>
                </a:solidFill>
              </a:rPr>
              <a:t>make sense</a:t>
            </a:r>
            <a:r>
              <a:rPr lang="en" dirty="0">
                <a:solidFill>
                  <a:schemeClr val="dk1"/>
                </a:solidFill>
              </a:rPr>
              <a:t> level, true problem solving ability or innovation cannot emerge. They might understand things in a general way, but they will think and act just like everyone else — doing what’s expected, not what’s original.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What we want is to raise a generation of learners who can look at the world’s problems from different perspectives and create unique solutions — individuals who can think beyond what already exists and imagine what could be.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90357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90357f_0_4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I don’t mean we should stop explaining things.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But we can </a:t>
            </a:r>
            <a:r>
              <a:rPr lang="en" b="1">
                <a:solidFill>
                  <a:schemeClr val="dk1"/>
                </a:solidFill>
              </a:rPr>
              <a:t>shift from explaining too much to inviting inquiry</a:t>
            </a:r>
            <a:r>
              <a:rPr lang="en">
                <a:solidFill>
                  <a:schemeClr val="dk1"/>
                </a:solidFill>
              </a:rPr>
              <a:t> —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turning explanations into opportunities for students to think, predict, and make sense of ideas themselves.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For the parts that truly need teacher explanation, we can insert </a:t>
            </a:r>
            <a:r>
              <a:rPr lang="en" b="1">
                <a:solidFill>
                  <a:schemeClr val="dk1"/>
                </a:solidFill>
              </a:rPr>
              <a:t>micro moments of curiosity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</a:pPr>
            <a:r>
              <a:rPr lang="en">
                <a:solidFill>
                  <a:schemeClr val="dk1"/>
                </a:solidFill>
              </a:rPr>
              <a:t>“Before I show you what happens, what do you think?”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>
                <a:solidFill>
                  <a:schemeClr val="dk1"/>
                </a:solidFill>
              </a:rPr>
              <a:t>“If I change this one thing, how do you think it will affect the result?”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65887" indent="-304121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>
                <a:solidFill>
                  <a:schemeClr val="dk1"/>
                </a:solidFill>
              </a:rPr>
              <a:t>“Why do you think scientists cared about this question?”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This keeps students mentally </a:t>
            </a:r>
            <a:r>
              <a:rPr lang="en" i="1">
                <a:solidFill>
                  <a:schemeClr val="dk1"/>
                </a:solidFill>
              </a:rPr>
              <a:t>inside the phenomenon space</a:t>
            </a:r>
            <a:r>
              <a:rPr lang="en">
                <a:solidFill>
                  <a:schemeClr val="dk1"/>
                </a:solidFill>
              </a:rPr>
              <a:t>, even during teacher-led instruction.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What comes to your mind when you hear </a:t>
            </a:r>
            <a:r>
              <a:rPr lang="en" i="1">
                <a:solidFill>
                  <a:schemeClr val="dk1"/>
                </a:solidFill>
              </a:rPr>
              <a:t>“phenomenon space”</a:t>
            </a:r>
            <a:r>
              <a:rPr lang="en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6f90357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6f90357f_0_4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465887" indent="-304121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</a:pPr>
            <a:r>
              <a:rPr lang="en" b="1">
                <a:solidFill>
                  <a:schemeClr val="dk1"/>
                </a:solidFill>
              </a:rPr>
              <a:t>For example: instead of teaching “Newton’s Laws” as isolated content, the class explores </a:t>
            </a:r>
            <a:r>
              <a:rPr lang="en" b="1" i="1">
                <a:solidFill>
                  <a:schemeClr val="dk1"/>
                </a:solidFill>
              </a:rPr>
              <a:t>“Why does a skateboard slow down?”</a:t>
            </a:r>
            <a:br>
              <a:rPr lang="en" b="1" i="1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That skateboard scenario becomes the phenomenon — and the classroom becomes the phenomenon space where students investigate, model, and reason around it.</a:t>
            </a:r>
            <a:br>
              <a:rPr lang="en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465887" indent="-323533">
              <a:lnSpc>
                <a:spcPct val="115000"/>
              </a:lnSpc>
              <a:buClr>
                <a:schemeClr val="dk1"/>
              </a:buClr>
            </a:pPr>
            <a:r>
              <a:rPr lang="en" b="1">
                <a:solidFill>
                  <a:schemeClr val="dk1"/>
                </a:solidFill>
              </a:rPr>
              <a:t>So, instead of saying “We’re teaching about molecules,”</a:t>
            </a:r>
            <a:br>
              <a:rPr lang="en" b="1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 we say “We’re investigating why ice melts faster on metal than on plastic.”</a:t>
            </a:r>
            <a:br>
              <a:rPr lang="en" b="1">
                <a:solidFill>
                  <a:schemeClr val="dk1"/>
                </a:solidFill>
              </a:rPr>
            </a:br>
            <a:r>
              <a:rPr lang="en" b="1">
                <a:solidFill>
                  <a:schemeClr val="dk1"/>
                </a:solidFill>
              </a:rPr>
              <a:t> That shift creates a </a:t>
            </a:r>
            <a:r>
              <a:rPr lang="en" b="1" i="1">
                <a:solidFill>
                  <a:schemeClr val="dk1"/>
                </a:solidFill>
              </a:rPr>
              <a:t>phenomenon space</a:t>
            </a:r>
            <a:r>
              <a:rPr lang="en" b="1">
                <a:solidFill>
                  <a:schemeClr val="dk1"/>
                </a:solidFill>
              </a:rPr>
              <a:t> where molecular ideas naturally develop.</a:t>
            </a:r>
            <a:endParaRPr b="1">
              <a:solidFill>
                <a:schemeClr val="dk1"/>
              </a:solidFill>
            </a:endParaRPr>
          </a:p>
          <a:p>
            <a:pPr marL="465887" marR="388239" indent="-323533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“We’re not removing instruction — we’re transforming it.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goal is to talk less: to open space for students to think, connect, and reason.”</a:t>
            </a:r>
            <a:endParaRPr>
              <a:solidFill>
                <a:schemeClr val="dk1"/>
              </a:solidFill>
            </a:endParaRPr>
          </a:p>
          <a:p>
            <a:pPr marL="465887" marR="388239" indent="-323533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What else can we try in the classroom to reduce teacher talk?</a:t>
            </a:r>
            <a:endParaRPr>
              <a:solidFill>
                <a:schemeClr val="dk1"/>
              </a:solidFill>
            </a:endParaRPr>
          </a:p>
          <a:p>
            <a:pPr marL="465887" marR="388239" indent="-323533">
              <a:lnSpc>
                <a:spcPct val="115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What can we put in place </a:t>
            </a:r>
            <a:r>
              <a:rPr lang="en" b="1">
                <a:solidFill>
                  <a:schemeClr val="dk1"/>
                </a:solidFill>
              </a:rPr>
              <a:t>instead of heavy teacher talk</a:t>
            </a:r>
            <a:r>
              <a:rPr lang="en">
                <a:solidFill>
                  <a:schemeClr val="dk1"/>
                </a:solidFill>
              </a:rPr>
              <a:t> to make learning more student-centered?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spcAft>
                <a:spcPts val="1223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93417e4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93417e4f_0_2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465887" indent="-323533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</a:pPr>
            <a:r>
              <a:rPr lang="en" b="1" dirty="0">
                <a:solidFill>
                  <a:schemeClr val="dk1"/>
                </a:solidFill>
              </a:rPr>
              <a:t>The main reason I wanted to meet with you first is because you are already doing most — if not all — of these things so well. You only need a few small improvements, and for that reason, I want to sincerely thank you all for your dedication and hard work.</a:t>
            </a:r>
            <a:endParaRPr b="1" dirty="0">
              <a:solidFill>
                <a:schemeClr val="dk1"/>
              </a:solidFill>
            </a:endParaRPr>
          </a:p>
          <a:p>
            <a:pPr marL="465887" indent="-323533">
              <a:lnSpc>
                <a:spcPct val="115000"/>
              </a:lnSpc>
              <a:buClr>
                <a:schemeClr val="dk1"/>
              </a:buClr>
            </a:pPr>
            <a:r>
              <a:rPr lang="en" b="1" dirty="0">
                <a:solidFill>
                  <a:schemeClr val="dk1"/>
                </a:solidFill>
              </a:rPr>
              <a:t>I need your collaboration to help move TMSA schools toward a culture where science discourse becomes a central part of learning. What do you say?</a:t>
            </a:r>
            <a:endParaRPr b="1"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As I mentioned, the next step is this: you are already very rich in terms of content, and that’s great. I have now prepared a two-page document that will help </a:t>
            </a:r>
            <a:r>
              <a:rPr lang="en" b="1" dirty="0">
                <a:solidFill>
                  <a:schemeClr val="dk1"/>
                </a:solidFill>
              </a:rPr>
              <a:t>train ChatGPT</a:t>
            </a:r>
            <a:r>
              <a:rPr lang="en" dirty="0">
                <a:solidFill>
                  <a:schemeClr val="dk1"/>
                </a:solidFill>
              </a:rPr>
              <a:t> for your lessons.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 dirty="0">
                <a:solidFill>
                  <a:schemeClr val="dk1"/>
                </a:solidFill>
              </a:rPr>
              <a:t>What I’m asking is that, for each lesson, you send this </a:t>
            </a:r>
            <a:r>
              <a:rPr lang="en" b="1" dirty="0">
                <a:solidFill>
                  <a:schemeClr val="dk1"/>
                </a:solidFill>
              </a:rPr>
              <a:t>template</a:t>
            </a:r>
            <a:r>
              <a:rPr lang="en" dirty="0">
                <a:solidFill>
                  <a:schemeClr val="dk1"/>
                </a:solidFill>
              </a:rPr>
              <a:t> to ChatGPT and then follow the instructional suggestions it provides to guide your lesson.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Can we start from there?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From now on, I promise you won’t be as tired in class as before.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These ideas may seem simple and straightforward, but in reality, they’re not — they take </a:t>
            </a:r>
            <a:r>
              <a:rPr lang="en" b="1" dirty="0">
                <a:solidFill>
                  <a:schemeClr val="dk1"/>
                </a:solidFill>
              </a:rPr>
              <a:t>time, reflection, and consistent practice</a:t>
            </a:r>
            <a:r>
              <a:rPr lang="en" dirty="0">
                <a:solidFill>
                  <a:schemeClr val="dk1"/>
                </a:solidFill>
              </a:rPr>
              <a:t>. What we’re talking about is deeper and more abstract; it’s about changing the way we think about teaching and learning.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As we move forward, you’ll try new strategies, I’ll keep visiting and giving you feedback, and together we’ll keep learning from what happens in the classroom.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None/>
            </a:pPr>
            <a:r>
              <a:rPr lang="en" dirty="0">
                <a:solidFill>
                  <a:schemeClr val="dk1"/>
                </a:solidFill>
              </a:rPr>
              <a:t>Through this process, we’ll build something truly powerful — a pedagogy that reflects who we are and what we believe about science learning.</a:t>
            </a:r>
            <a:endParaRPr dirty="0"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93417e4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93417e4f_0_2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Did you realize that in these lessons, there is no </a:t>
            </a:r>
            <a:r>
              <a:rPr lang="en" i="1">
                <a:solidFill>
                  <a:schemeClr val="dk1"/>
                </a:solidFill>
              </a:rPr>
              <a:t>direct instruction</a:t>
            </a:r>
            <a:r>
              <a:rPr lang="en">
                <a:solidFill>
                  <a:schemeClr val="dk1"/>
                </a:solidFill>
              </a:rPr>
              <a:t>?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Students have already experienced these phenomena in their everyday lives in a non-scientific way. Our role as teachers is not to define or explain those concepts for them, but to </a:t>
            </a:r>
            <a:r>
              <a:rPr lang="en" b="1">
                <a:solidFill>
                  <a:schemeClr val="dk1"/>
                </a:solidFill>
              </a:rPr>
              <a:t>guide</a:t>
            </a:r>
            <a:r>
              <a:rPr lang="en">
                <a:solidFill>
                  <a:schemeClr val="dk1"/>
                </a:solidFill>
              </a:rPr>
              <a:t> them toward making scientific sense of what they already know.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We do this </a:t>
            </a:r>
            <a:r>
              <a:rPr lang="en" b="1">
                <a:solidFill>
                  <a:schemeClr val="dk1"/>
                </a:solidFill>
              </a:rPr>
              <a:t>not through definitions, but through questions</a:t>
            </a:r>
            <a:r>
              <a:rPr lang="en">
                <a:solidFill>
                  <a:schemeClr val="dk1"/>
                </a:solidFill>
              </a:rPr>
              <a:t> — questions that help them connect, reason, and construct understanding, such as:</a:t>
            </a:r>
            <a:endParaRPr>
              <a:solidFill>
                <a:schemeClr val="dk1"/>
              </a:solidFill>
            </a:endParaRPr>
          </a:p>
          <a:p>
            <a:pPr marL="388239" marR="388239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“What makes you think that?”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“Why do you think that happened?”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“What evidence do you have?”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“How could we find out?”</a:t>
            </a:r>
            <a:endParaRPr>
              <a:solidFill>
                <a:schemeClr val="dk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1223"/>
              </a:spcBef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This approach shifts the focus from </a:t>
            </a:r>
            <a:r>
              <a:rPr lang="en" i="1">
                <a:solidFill>
                  <a:schemeClr val="dk1"/>
                </a:solidFill>
              </a:rPr>
              <a:t>teaching science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lang="en" i="1">
                <a:solidFill>
                  <a:schemeClr val="dk1"/>
                </a:solidFill>
              </a:rPr>
              <a:t>making sense of science</a:t>
            </a:r>
            <a:r>
              <a:rPr lang="en">
                <a:solidFill>
                  <a:schemeClr val="dk1"/>
                </a:solidFill>
              </a:rPr>
              <a:t> — where students are the thinkers, and teachers are the facilitators of meaning-making.</a:t>
            </a: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223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Integrating Project-Based Science Learning into Lessons</a:t>
            </a:r>
            <a:r>
              <a:rPr lang="en" dirty="0"/>
              <a:t>(Pedagogy)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Semiha G Yildiz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3740CBB3-441C-CC59-76AD-9274EB836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31F6E8BC-6671-F7DF-DE63-F49794DCF6B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9182" y="230755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Hands-On Learning</a:t>
            </a:r>
            <a:endParaRPr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94931CDD-CF14-85C9-F72D-6AF1916C755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2700" y="2005445"/>
            <a:ext cx="8118600" cy="29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What it is:</a:t>
            </a:r>
            <a:br>
              <a:rPr lang="en-US" sz="1600" dirty="0"/>
            </a:br>
            <a:r>
              <a:rPr lang="en-US" sz="1600" dirty="0"/>
              <a:t>Students learn by </a:t>
            </a:r>
            <a:r>
              <a:rPr lang="en-US" sz="1600" i="1" dirty="0"/>
              <a:t>doing</a:t>
            </a:r>
            <a:r>
              <a:rPr lang="en-US" sz="1600" dirty="0"/>
              <a:t> — manipulating materials, conducting experiments, and participating actively.</a:t>
            </a:r>
            <a:br>
              <a:rPr lang="en-US" sz="1600" dirty="0"/>
            </a:br>
            <a:r>
              <a:rPr lang="en-US" sz="1600" dirty="0"/>
              <a:t>The goal is engagement and experience.</a:t>
            </a:r>
          </a:p>
          <a:p>
            <a:r>
              <a:rPr lang="en-US" sz="1600" dirty="0"/>
              <a:t>“Tell me and I forget, show me and I may remember, involve me and I </a:t>
            </a:r>
            <a:r>
              <a:rPr lang="en-US" sz="1600" dirty="0">
                <a:solidFill>
                  <a:srgbClr val="C00000"/>
                </a:solidFill>
              </a:rPr>
              <a:t>UNDERSTAND</a:t>
            </a:r>
            <a:r>
              <a:rPr lang="en-US" sz="1600" dirty="0"/>
              <a:t>.”</a:t>
            </a:r>
          </a:p>
          <a:p>
            <a:r>
              <a:rPr lang="en-US" sz="1600" b="1" dirty="0"/>
              <a:t>Example:</a:t>
            </a:r>
            <a:br>
              <a:rPr lang="en-US" sz="1600" dirty="0"/>
            </a:br>
            <a:r>
              <a:rPr lang="en-US" sz="1600" dirty="0"/>
              <a:t>Students test how a ball rolls on different surfaces to observe friction.</a:t>
            </a:r>
          </a:p>
          <a:p>
            <a:r>
              <a:rPr lang="en-US" sz="1600" b="1" dirty="0"/>
              <a:t>Limitation:</a:t>
            </a:r>
            <a:br>
              <a:rPr lang="en-US" sz="1600" dirty="0"/>
            </a:br>
            <a:r>
              <a:rPr lang="en-US" sz="1600" dirty="0"/>
              <a:t>Students may </a:t>
            </a:r>
            <a:r>
              <a:rPr lang="en-US" sz="1600" i="1" dirty="0"/>
              <a:t>do</a:t>
            </a:r>
            <a:r>
              <a:rPr lang="en-US" sz="1600" dirty="0"/>
              <a:t> something without deeply </a:t>
            </a:r>
            <a:r>
              <a:rPr lang="en-US" sz="1600" i="1" dirty="0"/>
              <a:t>thinking</a:t>
            </a:r>
            <a:r>
              <a:rPr lang="en-US" sz="1600" dirty="0"/>
              <a:t> about why it happens.</a:t>
            </a:r>
            <a:br>
              <a:rPr lang="en-US" sz="1600" dirty="0"/>
            </a:br>
            <a:r>
              <a:rPr lang="en-US" sz="1600" dirty="0"/>
              <a:t>The activity is active but not always meaningful.</a:t>
            </a:r>
          </a:p>
          <a:p>
            <a:r>
              <a:rPr lang="en-US" sz="1600" dirty="0"/>
              <a:t>Hands-on ≠ always minds-on.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294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ED85-5464-A63F-F430-C253BF74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436" y="2683010"/>
            <a:ext cx="8118600" cy="1522800"/>
          </a:xfrm>
        </p:spPr>
        <p:txBody>
          <a:bodyPr/>
          <a:lstStyle/>
          <a:p>
            <a:r>
              <a:rPr lang="en" sz="5400" dirty="0">
                <a:latin typeface="Arial"/>
                <a:ea typeface="Arial"/>
                <a:cs typeface="Arial"/>
                <a:sym typeface="Arial"/>
              </a:rPr>
              <a:t>Not Every Lesson Needs to Be Hands-On, </a:t>
            </a:r>
            <a:br>
              <a:rPr lang="en" sz="5400" dirty="0">
                <a:latin typeface="Arial"/>
                <a:ea typeface="Arial"/>
                <a:cs typeface="Arial"/>
                <a:sym typeface="Arial"/>
              </a:rPr>
            </a:br>
            <a:r>
              <a:rPr lang="en" sz="5400" dirty="0">
                <a:latin typeface="Arial"/>
                <a:ea typeface="Arial"/>
                <a:cs typeface="Arial"/>
                <a:sym typeface="Arial"/>
              </a:rPr>
              <a:t>But Every Lesson Must Be </a:t>
            </a:r>
            <a:r>
              <a:rPr lang="en" sz="5400" b="1" dirty="0">
                <a:latin typeface="Arial"/>
                <a:ea typeface="Arial"/>
                <a:cs typeface="Arial"/>
                <a:sym typeface="Arial"/>
              </a:rPr>
              <a:t>Minds-On</a:t>
            </a:r>
            <a:r>
              <a:rPr lang="en" sz="5400" dirty="0">
                <a:latin typeface="Arial"/>
                <a:ea typeface="Arial"/>
                <a:cs typeface="Arial"/>
                <a:sym typeface="Arial"/>
              </a:rPr>
              <a:t>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95297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E4DDA74B-6DB1-F7FA-60AF-9861C444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5E99777D-DD3C-B7EF-B1AD-0228B3F9F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9182" y="230755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Inquiry-Based Learning</a:t>
            </a:r>
            <a:endParaRPr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9F3F7C7E-3985-546E-426F-3D58D28DEC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2700" y="1753555"/>
            <a:ext cx="8118600" cy="3159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Students learn through </a:t>
            </a:r>
            <a:r>
              <a:rPr lang="en-US" sz="1600" b="1" dirty="0"/>
              <a:t>questioning, investigating, collecting evidence, and reasoning.</a:t>
            </a:r>
            <a:br>
              <a:rPr lang="en-US" sz="1600" dirty="0"/>
            </a:br>
            <a:r>
              <a:rPr lang="en-US" sz="1600" dirty="0"/>
              <a:t>They think like scientists — asking </a:t>
            </a:r>
            <a:r>
              <a:rPr lang="en-US" sz="1600" i="1" dirty="0"/>
              <a:t>why</a:t>
            </a:r>
            <a:r>
              <a:rPr lang="en-US" sz="1600" dirty="0"/>
              <a:t> and </a:t>
            </a:r>
            <a:r>
              <a:rPr lang="en-US" sz="1600" i="1" dirty="0"/>
              <a:t>how</a:t>
            </a:r>
            <a:r>
              <a:rPr lang="en-US" sz="1600" dirty="0"/>
              <a:t> instead of just </a:t>
            </a:r>
            <a:r>
              <a:rPr lang="en-US" sz="1600" i="1" dirty="0"/>
              <a:t>what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Students ask, “Why do plants bend toward light?” then design and conduct an experiment to find out.</a:t>
            </a:r>
          </a:p>
          <a:p>
            <a:endParaRPr lang="en-US" sz="1600" dirty="0"/>
          </a:p>
          <a:p>
            <a:r>
              <a:rPr lang="en-US" sz="1600" b="1" dirty="0"/>
              <a:t>Strength:</a:t>
            </a:r>
            <a:endParaRPr lang="en-US" sz="1600" dirty="0"/>
          </a:p>
          <a:p>
            <a:r>
              <a:rPr lang="en-US" sz="1600" dirty="0"/>
              <a:t>Promotes scientific reasoning and curiosity</a:t>
            </a:r>
          </a:p>
          <a:p>
            <a:r>
              <a:rPr lang="en-US" sz="1600" dirty="0"/>
              <a:t>Encourages evidence-based explanations</a:t>
            </a:r>
          </a:p>
          <a:p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546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7CFA-418E-A3E1-96CC-75E81D1C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Science?</a:t>
            </a:r>
          </a:p>
        </p:txBody>
      </p:sp>
    </p:spTree>
    <p:extLst>
      <p:ext uri="{BB962C8B-B14F-4D97-AF65-F5344CB8AC3E}">
        <p14:creationId xmlns:p14="http://schemas.microsoft.com/office/powerpoint/2010/main" val="111686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479FC19B-042C-AF00-578A-3AAC3DC3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78FAC30E-BAEC-F21A-1D71-AFDAAA10A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629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6000" dirty="0">
                <a:solidFill>
                  <a:schemeClr val="tx1"/>
                </a:solidFill>
              </a:rPr>
              <a:t>Science is </a:t>
            </a:r>
            <a:r>
              <a:rPr lang="en" sz="6000" b="1" dirty="0">
                <a:solidFill>
                  <a:schemeClr val="tx1"/>
                </a:solidFill>
              </a:rPr>
              <a:t>MAKING SENSE</a:t>
            </a:r>
            <a:r>
              <a:rPr lang="en" sz="6000" dirty="0">
                <a:solidFill>
                  <a:schemeClr val="tx1"/>
                </a:solidFill>
              </a:rPr>
              <a:t> of the things that are happening in the world.</a:t>
            </a:r>
            <a:endParaRPr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64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6381-9456-329E-0EFA-0349D67D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526350"/>
            <a:ext cx="7469186" cy="4090800"/>
          </a:xfrm>
        </p:spPr>
        <p:txBody>
          <a:bodyPr/>
          <a:lstStyle/>
          <a:p>
            <a:r>
              <a:rPr lang="en-US" sz="4000" b="1" dirty="0">
                <a:solidFill>
                  <a:schemeClr val="dk1"/>
                </a:solidFill>
              </a:rPr>
              <a:t>Wondering to Understanding, </a:t>
            </a:r>
            <a:br>
              <a:rPr lang="en-US" sz="4000" b="1" dirty="0">
                <a:solidFill>
                  <a:schemeClr val="dk1"/>
                </a:solidFill>
              </a:rPr>
            </a:br>
            <a:r>
              <a:rPr lang="en-US" sz="4000" b="1" dirty="0">
                <a:solidFill>
                  <a:schemeClr val="dk1"/>
                </a:solidFill>
              </a:rPr>
              <a:t>Observing to Explaining, </a:t>
            </a:r>
            <a:br>
              <a:rPr lang="en-US" sz="4000" b="1" dirty="0">
                <a:solidFill>
                  <a:schemeClr val="dk1"/>
                </a:solidFill>
              </a:rPr>
            </a:br>
            <a:r>
              <a:rPr lang="en-US" sz="4000" b="1" dirty="0">
                <a:solidFill>
                  <a:schemeClr val="dk1"/>
                </a:solidFill>
              </a:rPr>
              <a:t>Knowing to </a:t>
            </a:r>
            <a:r>
              <a:rPr lang="en-US" sz="7200" b="1" dirty="0">
                <a:solidFill>
                  <a:schemeClr val="dk1"/>
                </a:solidFill>
              </a:rPr>
              <a:t>Applying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54352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A525-A0FA-4563-5499-2F004BA5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00" y="644236"/>
            <a:ext cx="8118600" cy="277186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Understanding </a:t>
            </a:r>
            <a:r>
              <a:rPr lang="en-US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= being able to explain clearly → the </a:t>
            </a:r>
            <a:r>
              <a:rPr lang="en-US" sz="28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r>
              <a:rPr lang="en-US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of learning</a:t>
            </a:r>
            <a:br>
              <a:rPr lang="en-US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Sense Making </a:t>
            </a:r>
            <a:r>
              <a:rPr lang="en-US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= forming your own meaning → the </a:t>
            </a:r>
            <a:r>
              <a:rPr lang="en-US" sz="28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r>
              <a:rPr lang="en-US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of understanding</a:t>
            </a:r>
            <a:br>
              <a:rPr lang="en-US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82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CB3EC6C9-4E0C-6482-996C-62F4487D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64BD21BB-1EE8-7AC4-BB27-E167A94BEDC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9182" y="230755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Project-Based Learning (PBL)</a:t>
            </a:r>
            <a:endParaRPr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8642D6D-8D57-6876-143B-56A9DADE5A0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2700" y="1753555"/>
            <a:ext cx="8118600" cy="3159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What it is:</a:t>
            </a:r>
            <a:br>
              <a:rPr lang="en-US" sz="1800" dirty="0"/>
            </a:br>
            <a:r>
              <a:rPr lang="en-US" sz="1800" dirty="0"/>
              <a:t>Students work on </a:t>
            </a:r>
            <a:r>
              <a:rPr lang="en-US" sz="1800" b="1" dirty="0"/>
              <a:t>authentic, real-world problems</a:t>
            </a:r>
            <a:r>
              <a:rPr lang="en-US" sz="1800" dirty="0"/>
              <a:t> over an extended period.</a:t>
            </a:r>
            <a:br>
              <a:rPr lang="en-US" sz="1800" dirty="0"/>
            </a:br>
            <a:r>
              <a:rPr lang="en-US" sz="1800" dirty="0"/>
              <a:t>They research, test, build, and create a product or solution using science concepts.</a:t>
            </a:r>
            <a:br>
              <a:rPr lang="en-US" sz="1800" dirty="0"/>
            </a:br>
            <a:r>
              <a:rPr lang="en-US" sz="1800" dirty="0"/>
              <a:t>Inquiry is part of the process — but PBL goes further by </a:t>
            </a:r>
            <a:r>
              <a:rPr lang="en-US" sz="1800" b="1" dirty="0"/>
              <a:t>applying learning</a:t>
            </a:r>
            <a:r>
              <a:rPr lang="en-US" sz="1800" dirty="0"/>
              <a:t> to real life.</a:t>
            </a:r>
          </a:p>
          <a:p>
            <a:r>
              <a:rPr lang="en-US" sz="1800" b="1" dirty="0"/>
              <a:t>Example:</a:t>
            </a:r>
            <a:br>
              <a:rPr lang="en-US" sz="1800" dirty="0"/>
            </a:br>
            <a:r>
              <a:rPr lang="en-US" sz="1800" dirty="0"/>
              <a:t>Students design a system to reduce energy waste at school.</a:t>
            </a:r>
            <a:br>
              <a:rPr lang="en-US" sz="1800" dirty="0"/>
            </a:br>
            <a:r>
              <a:rPr lang="en-US" sz="1800" dirty="0"/>
              <a:t>They research energy transfer (inquiry), test materials (hands-on), and apply their findings in a real design (PBL).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018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2E5A37-4E16-CB90-9C2B-791F6E0D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6" y="0"/>
            <a:ext cx="82919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5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7D5FD080-A180-0DDA-BAB3-657D08124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69283CA9-057E-870D-DF23-DF0FE4287B7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9182" y="230755"/>
            <a:ext cx="8118600" cy="9226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Hands-On Learning</a:t>
            </a:r>
            <a:endParaRPr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3EA60172-C859-2F95-E2D2-08BCA9F327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2700" y="1589809"/>
            <a:ext cx="8118600" cy="3322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Activity:</a:t>
            </a:r>
            <a:br>
              <a:rPr lang="en-US" dirty="0"/>
            </a:br>
            <a:r>
              <a:rPr lang="en-US" dirty="0"/>
              <a:t>Students touch and observe ice, water, and steam (using safe visuals or warm water).</a:t>
            </a:r>
            <a:br>
              <a:rPr lang="en-US" dirty="0"/>
            </a:br>
            <a:r>
              <a:rPr lang="en-US" dirty="0"/>
              <a:t>They describe how each feels and looks.</a:t>
            </a:r>
          </a:p>
          <a:p>
            <a:r>
              <a:rPr lang="en-US" b="1" dirty="0"/>
              <a:t>Focus:</a:t>
            </a:r>
            <a:r>
              <a:rPr lang="en-US" dirty="0"/>
              <a:t> Experiencing and observing the three states.</a:t>
            </a:r>
            <a:br>
              <a:rPr lang="en-US" dirty="0"/>
            </a:br>
            <a:r>
              <a:rPr lang="en-US" b="1" dirty="0"/>
              <a:t>Teacher says:</a:t>
            </a:r>
            <a:r>
              <a:rPr lang="en-US" dirty="0"/>
              <a:t> “Let’s explore how solids, liquids, and gases look and feel.”</a:t>
            </a:r>
          </a:p>
          <a:p>
            <a:r>
              <a:rPr lang="en-US" b="1" dirty="0"/>
              <a:t>Learning Outcome:</a:t>
            </a:r>
            <a:r>
              <a:rPr lang="en-US" dirty="0"/>
              <a:t> Students can identify the three states based on what they see and touch.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9952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21730FC7-96DF-3DD5-AF2C-554AA8A1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8D260F7E-BB84-342A-A683-C4F0CF6BFE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9182" y="230755"/>
            <a:ext cx="8118600" cy="9226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Inquiry-Based Learning</a:t>
            </a:r>
            <a:endParaRPr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ACABE71A-1242-4258-7B0A-EB27168A53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2700" y="1589809"/>
            <a:ext cx="8118600" cy="3322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/>
              <a:t>Activity:</a:t>
            </a:r>
            <a:br>
              <a:rPr lang="en-US" sz="2000" dirty="0"/>
            </a:br>
            <a:r>
              <a:rPr lang="en-US" sz="2000" dirty="0"/>
              <a:t>Students ask, </a:t>
            </a:r>
            <a:r>
              <a:rPr lang="en-US" sz="2000" i="1" dirty="0"/>
              <a:t>“What makes ice melt?”</a:t>
            </a:r>
            <a:br>
              <a:rPr lang="en-US" sz="2000" dirty="0"/>
            </a:br>
            <a:r>
              <a:rPr lang="en-US" sz="2000" dirty="0"/>
              <a:t>They test how heat changes the state of matter by placing ice in different conditions (room temp, fridge, sunlight).</a:t>
            </a:r>
            <a:br>
              <a:rPr lang="en-US" sz="2000" dirty="0"/>
            </a:br>
            <a:r>
              <a:rPr lang="en-US" sz="2000" dirty="0"/>
              <a:t>They record observations and make explanations.</a:t>
            </a:r>
          </a:p>
          <a:p>
            <a:r>
              <a:rPr lang="en-US" sz="2000" b="1" dirty="0"/>
              <a:t>Focus:</a:t>
            </a:r>
            <a:r>
              <a:rPr lang="en-US" sz="2000" dirty="0"/>
              <a:t> Investigating </a:t>
            </a:r>
            <a:r>
              <a:rPr lang="en-US" sz="2000" i="1" dirty="0"/>
              <a:t>why</a:t>
            </a:r>
            <a:r>
              <a:rPr lang="en-US" sz="2000" dirty="0"/>
              <a:t> matter changes state.</a:t>
            </a:r>
            <a:br>
              <a:rPr lang="en-US" sz="2000" dirty="0"/>
            </a:br>
            <a:r>
              <a:rPr lang="en-US" sz="2000" b="1" dirty="0"/>
              <a:t>Teacher says:</a:t>
            </a:r>
            <a:r>
              <a:rPr lang="en-US" sz="2000" dirty="0"/>
              <a:t> “What do you think will happen if we put ice in the sun? Why?”</a:t>
            </a:r>
          </a:p>
          <a:p>
            <a:r>
              <a:rPr lang="en-US" sz="2000" b="1" dirty="0"/>
              <a:t>Learning Outcome:</a:t>
            </a:r>
            <a:r>
              <a:rPr lang="en-US" sz="2000" dirty="0"/>
              <a:t> Students reason that </a:t>
            </a:r>
            <a:r>
              <a:rPr lang="en-US" sz="2000" b="1" dirty="0"/>
              <a:t>temperature affects how matter changes states.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339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BEDE0D8D-E772-7B3D-4368-98DCC2A3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59568AFD-A68C-2CBF-3AD1-528DF882443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9182" y="230755"/>
            <a:ext cx="8118600" cy="9226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Project-Based Learning (PBL)</a:t>
            </a:r>
            <a:endParaRPr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2F02317C-5EE5-51C7-4266-449C5D8F29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2700" y="1589809"/>
            <a:ext cx="8118600" cy="3322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Driving Question:</a:t>
            </a:r>
            <a:endParaRPr lang="en-US" sz="1800" dirty="0"/>
          </a:p>
          <a:p>
            <a:r>
              <a:rPr lang="en-US" sz="1800" dirty="0"/>
              <a:t>“How can we keep our drinks cold for a picnic on a hot day?”</a:t>
            </a:r>
          </a:p>
          <a:p>
            <a:r>
              <a:rPr lang="en-US" sz="1800" b="1" dirty="0"/>
              <a:t>Project:</a:t>
            </a:r>
            <a:br>
              <a:rPr lang="en-US" sz="1800" dirty="0"/>
            </a:br>
            <a:r>
              <a:rPr lang="en-US" sz="1800" dirty="0"/>
              <a:t>Students design and test a container that keeps ice from melting quickly.</a:t>
            </a:r>
            <a:br>
              <a:rPr lang="en-US" sz="1800" dirty="0"/>
            </a:br>
            <a:r>
              <a:rPr lang="en-US" sz="1800" dirty="0"/>
              <a:t>They apply what they know about solids, liquids, gases, and insulation.</a:t>
            </a:r>
          </a:p>
          <a:p>
            <a:r>
              <a:rPr lang="en-US" sz="1800" b="1" dirty="0"/>
              <a:t>Focus:</a:t>
            </a:r>
            <a:r>
              <a:rPr lang="en-US" sz="1800" dirty="0"/>
              <a:t> Applying science knowledge to solve a real-world problem.</a:t>
            </a:r>
            <a:br>
              <a:rPr lang="en-US" sz="1800" dirty="0"/>
            </a:br>
            <a:r>
              <a:rPr lang="en-US" sz="1800" b="1" dirty="0"/>
              <a:t>Teacher says:</a:t>
            </a:r>
            <a:r>
              <a:rPr lang="en-US" sz="1800" dirty="0"/>
              <a:t> “What kind of material would keep the ice solid longer? Let’s design and test!”</a:t>
            </a:r>
          </a:p>
          <a:p>
            <a:r>
              <a:rPr lang="en-US" sz="1800" b="1" dirty="0"/>
              <a:t>Learning Outcome:</a:t>
            </a:r>
            <a:r>
              <a:rPr lang="en-US" sz="1800" dirty="0"/>
              <a:t> Students use scientific understanding to </a:t>
            </a:r>
            <a:r>
              <a:rPr lang="en-US" sz="1800" b="1" dirty="0"/>
              <a:t>design and improve a real solution</a:t>
            </a:r>
            <a:r>
              <a:rPr lang="en-US" sz="18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396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D0EC-0FAA-3654-2EB8-03D4C101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571BD2-6AB1-C1FC-96C3-8466BA22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48" y="1457169"/>
            <a:ext cx="7573432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86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CA44-AAE4-00BE-D58A-C1A3B6A4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00" y="1226127"/>
            <a:ext cx="8118600" cy="3156327"/>
          </a:xfrm>
        </p:spPr>
        <p:txBody>
          <a:bodyPr/>
          <a:lstStyle/>
          <a:p>
            <a:r>
              <a:rPr lang="en-US" sz="4400" b="1" dirty="0"/>
              <a:t>One question for each approach</a:t>
            </a:r>
            <a:r>
              <a:rPr lang="en-US" sz="4400" dirty="0"/>
              <a:t> — three questions total.</a:t>
            </a:r>
            <a:br>
              <a:rPr lang="en-US" sz="4400" dirty="0"/>
            </a:br>
            <a:r>
              <a:rPr lang="en-US" sz="4400" dirty="0"/>
              <a:t>1. Hands-On</a:t>
            </a:r>
            <a:br>
              <a:rPr lang="en-US" sz="4400" dirty="0"/>
            </a:br>
            <a:r>
              <a:rPr lang="en-US" sz="4400" dirty="0"/>
              <a:t>2. Inquiry Based</a:t>
            </a:r>
            <a:br>
              <a:rPr lang="en-US" sz="4400" dirty="0"/>
            </a:br>
            <a:r>
              <a:rPr lang="en-US" sz="4400" dirty="0"/>
              <a:t>3. Project Based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2970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512700" y="2084075"/>
            <a:ext cx="8118600" cy="22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Bef>
                <a:spcPts val="1200"/>
              </a:spcBef>
            </a:pPr>
            <a:r>
              <a:rPr lang="en-US" sz="2400" dirty="0"/>
              <a:t>Key idea: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Students learn science by doing science. - Moves from teacher-centered → student-driven learning - Builds critical thinking, problem-solving, collaboration, and creativity - Makes learning authentic through real-world challenges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Example: Instead of memorizing the water cycle, students design solutions to reduce water waste in their community. </a:t>
            </a:r>
            <a:endParaRPr sz="24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596204" y="147582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Core Elements of PBL</a:t>
            </a:r>
            <a:endParaRPr sz="3600" b="1" dirty="0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16762-E8CC-2AE2-F234-4B82ADAA2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83" y="2064485"/>
            <a:ext cx="8007833" cy="25925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629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solidFill>
                  <a:schemeClr val="tx1"/>
                </a:solidFill>
              </a:rPr>
              <a:t>Why Integrate Science into PBL? 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/>
              <a:t>Science naturally fits PBL because: - It’s based on curiosity and evidence </a:t>
            </a:r>
            <a:br>
              <a:rPr lang="en-US" sz="2800" dirty="0"/>
            </a:br>
            <a:r>
              <a:rPr lang="en-US" sz="2800" dirty="0">
                <a:solidFill>
                  <a:schemeClr val="tx1"/>
                </a:solidFill>
              </a:rPr>
              <a:t>--Encourages hands-on investigation 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--Connects to real-world phenomena 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--Strengthens conceptual understanding through application 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Goal: </a:t>
            </a:r>
            <a:r>
              <a:rPr lang="en-US" sz="2800" dirty="0"/>
              <a:t>Move beyond memorizing facts to making sense of the world scientifically. </a:t>
            </a:r>
            <a:endParaRPr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265500" y="262300"/>
            <a:ext cx="4045200" cy="42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</a:pPr>
            <a:r>
              <a:rPr lang="en-US" sz="1600" dirty="0"/>
              <a:t>Lesson Example – How Can We Keep Our School Cooler in the Summer? </a:t>
            </a: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</a:pPr>
            <a:r>
              <a:rPr lang="en-US" sz="1600" dirty="0"/>
              <a:t>Grade Level: 5th–6th </a:t>
            </a: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</a:pPr>
            <a:r>
              <a:rPr lang="en-US" sz="1600" dirty="0"/>
              <a:t>Time: 3–4 class periods </a:t>
            </a: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</a:pPr>
            <a:r>
              <a:rPr lang="en-US" sz="1600" dirty="0"/>
              <a:t>Focus: Heat transfer, insulation, energy efficiency </a:t>
            </a: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</a:pPr>
            <a:r>
              <a:rPr lang="en-US" sz="1600" dirty="0"/>
              <a:t>Driving Question: How can we design a classroom that stays cooler in summer using what we know about heat and energy? </a:t>
            </a:r>
            <a:endParaRPr sz="1600"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/>
          </p:nvPr>
        </p:nvSpPr>
        <p:spPr>
          <a:xfrm>
            <a:off x="4928100" y="202250"/>
            <a:ext cx="4045200" cy="48269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0"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400" dirty="0"/>
              <a:t>Activities: </a:t>
            </a:r>
          </a:p>
          <a:p>
            <a:pPr lvl="0" indent="0"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400" dirty="0"/>
              <a:t>Observe two metal spoons in hot water (one wrapped, one not). Discuss why. </a:t>
            </a:r>
          </a:p>
          <a:p>
            <a:pPr lvl="0" indent="0"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400" dirty="0"/>
              <a:t> Test different materials (foil, fabric, plastic) for insulation. </a:t>
            </a:r>
          </a:p>
          <a:p>
            <a:pPr lvl="0" indent="0"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400" dirty="0"/>
              <a:t>Design and test classroom models under light to measure temperature change.</a:t>
            </a:r>
          </a:p>
          <a:p>
            <a:pPr lvl="0" indent="0"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400" dirty="0"/>
              <a:t>Reflect on which design worked best and why. </a:t>
            </a:r>
          </a:p>
          <a:p>
            <a:pPr lvl="0" indent="0"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400" dirty="0"/>
              <a:t>Outcome: Students apply scientific reasoning to solve an authentic problem</a:t>
            </a:r>
            <a:endParaRPr sz="14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79825" y="445025"/>
            <a:ext cx="8120100" cy="118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294375" y="389525"/>
            <a:ext cx="8589900" cy="12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400"/>
              </a:spcBef>
              <a:spcAft>
                <a:spcPts val="1600"/>
              </a:spcAft>
              <a:buNone/>
            </a:pPr>
            <a:r>
              <a:rPr lang="en-US" sz="2800" b="1" dirty="0"/>
              <a:t>Teacher’s Role in PBL Science</a:t>
            </a:r>
            <a:endParaRPr sz="27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E453FE-854A-9FA2-4243-E6DD03BCF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2" y="1889980"/>
            <a:ext cx="8235175" cy="21263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Teacher Moves: </a:t>
            </a:r>
            <a:br>
              <a:rPr lang="en-US" sz="3200" dirty="0"/>
            </a:br>
            <a:r>
              <a:rPr lang="en-US" sz="3200" dirty="0"/>
              <a:t>- Ask: "What makes you think that?" </a:t>
            </a:r>
            <a:br>
              <a:rPr lang="en-US" sz="3200" dirty="0"/>
            </a:br>
            <a:r>
              <a:rPr lang="en-US" sz="3200" dirty="0"/>
              <a:t>- Encourage multiple solutions </a:t>
            </a:r>
            <a:br>
              <a:rPr lang="en-US" sz="3200" dirty="0"/>
            </a:br>
            <a:r>
              <a:rPr lang="en-US" sz="3200" dirty="0"/>
              <a:t>- Scaffold reasoning, not answers </a:t>
            </a:r>
            <a:endParaRPr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0C77F907-071F-3698-A402-AFBA608F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FA38B369-59DC-CB2F-A08E-F29D4E42F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" y="445025"/>
            <a:ext cx="8120100" cy="118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>
            <a:extLst>
              <a:ext uri="{FF2B5EF4-FFF2-40B4-BE49-F238E27FC236}">
                <a16:creationId xmlns:a16="http://schemas.microsoft.com/office/drawing/2014/main" id="{856947B7-986D-F6CD-992C-1DCD6E118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4375" y="389525"/>
            <a:ext cx="8589900" cy="12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400"/>
              </a:spcBef>
              <a:spcAft>
                <a:spcPts val="1600"/>
              </a:spcAft>
              <a:buNone/>
            </a:pPr>
            <a:r>
              <a:rPr lang="en-US" sz="2800" dirty="0"/>
              <a:t>Assessment in PBL Science</a:t>
            </a:r>
            <a:endParaRPr sz="27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25CBD-E51D-8531-AB6B-E0490A580978}"/>
              </a:ext>
            </a:extLst>
          </p:cNvPr>
          <p:cNvSpPr txBox="1"/>
          <p:nvPr/>
        </p:nvSpPr>
        <p:spPr>
          <a:xfrm>
            <a:off x="2286000" y="2203747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Rubric Focus: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Application of knowledge, not recall </a:t>
            </a:r>
          </a:p>
          <a:p>
            <a:pPr marL="285750" indent="-285750">
              <a:buFontTx/>
              <a:buChar char="-"/>
            </a:pPr>
            <a:r>
              <a:rPr lang="en-US" dirty="0"/>
              <a:t>Scientific reasoning &amp; evidence use 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Creativity and reflection - Collaboration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915899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476550" y="1366815"/>
            <a:ext cx="8190900" cy="3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tx1"/>
                </a:solidFill>
              </a:rPr>
              <a:t>Sample Rubric Dimensions: </a:t>
            </a:r>
            <a:br>
              <a:rPr lang="en-US" sz="2800" b="1" dirty="0"/>
            </a:br>
            <a:r>
              <a:rPr lang="en-US" sz="2800" dirty="0"/>
              <a:t>1. Scientific understanding </a:t>
            </a:r>
            <a:br>
              <a:rPr lang="en-US" sz="2800" dirty="0"/>
            </a:br>
            <a:r>
              <a:rPr lang="en-US" sz="2800" dirty="0"/>
              <a:t>2. Application of concept </a:t>
            </a:r>
            <a:br>
              <a:rPr lang="en-US" sz="2800" dirty="0"/>
            </a:br>
            <a:r>
              <a:rPr lang="en-US" sz="2800" dirty="0"/>
              <a:t>3. Critical thinking</a:t>
            </a:r>
            <a:br>
              <a:rPr lang="en-US" sz="2800" dirty="0"/>
            </a:br>
            <a:r>
              <a:rPr lang="en-US" sz="2800" dirty="0"/>
              <a:t>4. Creativity &amp; innovation </a:t>
            </a:r>
            <a:br>
              <a:rPr lang="en-US" sz="2800" dirty="0"/>
            </a:br>
            <a:r>
              <a:rPr lang="en-US" sz="2800" dirty="0"/>
              <a:t>5. Communication &amp; teamwork</a:t>
            </a:r>
            <a:endParaRPr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1463575" y="273175"/>
            <a:ext cx="5998800" cy="605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latin typeface="Arial"/>
                <a:ea typeface="Arial"/>
                <a:cs typeface="Arial"/>
                <a:sym typeface="Arial"/>
              </a:rPr>
              <a:t>Turn Explanations Into Mini-Inquiries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175" y="964425"/>
            <a:ext cx="59436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311700" y="1058225"/>
            <a:ext cx="85206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/>
              <a:t>- How can you integrate one small PBL element into your next lesson?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/>
              <a:t>- What science concept could connect to a real-world challenge? 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/>
              <a:t>- What support or collaboration would help you get started? </a:t>
            </a:r>
            <a:br>
              <a:rPr lang="en" sz="2400" b="1" i="1" dirty="0">
                <a:latin typeface="Arial"/>
                <a:ea typeface="Arial"/>
                <a:cs typeface="Arial"/>
                <a:sym typeface="Arial"/>
              </a:rPr>
            </a:br>
            <a:endParaRPr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DBAA5C-58F9-C43B-5C25-A33D35E4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Reflection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11700" y="445024"/>
            <a:ext cx="8520600" cy="4201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sz="4800" dirty="0"/>
              <a:t>"Hands-on learning is not enough — we want minds-on learning that builds curiosity, reasoning, and creativity." </a:t>
            </a:r>
            <a:endParaRPr sz="4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00" y="58788"/>
            <a:ext cx="7829550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2650</TotalTime>
  <Words>4523</Words>
  <Application>Microsoft Office PowerPoint</Application>
  <PresentationFormat>On-screen Show (16:9)</PresentationFormat>
  <Paragraphs>221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Old Standard TT</vt:lpstr>
      <vt:lpstr>Paperback</vt:lpstr>
      <vt:lpstr>Integrating Project-Based Science Learning into Lessons(Pedagogy)</vt:lpstr>
      <vt:lpstr>Hands-On Learning</vt:lpstr>
      <vt:lpstr>Not Every Lesson Needs to Be Hands-On,  But Every Lesson Must Be Minds-On.</vt:lpstr>
      <vt:lpstr>Inquiry-Based Learning</vt:lpstr>
      <vt:lpstr>What is Science?</vt:lpstr>
      <vt:lpstr>Science is MAKING SENSE of the things that are happening in the world.</vt:lpstr>
      <vt:lpstr>Wondering to Understanding,  Observing to Explaining,  Knowing to Applying</vt:lpstr>
      <vt:lpstr>Understanding = being able to explain clearly → the product of learning  Sense Making = forming your own meaning → the process of understanding </vt:lpstr>
      <vt:lpstr>Project-Based Learning (PBL)</vt:lpstr>
      <vt:lpstr>PowerPoint Presentation</vt:lpstr>
      <vt:lpstr>Hands-On Learning</vt:lpstr>
      <vt:lpstr>Inquiry-Based Learning</vt:lpstr>
      <vt:lpstr>Project-Based Learning (PBL)</vt:lpstr>
      <vt:lpstr>PowerPoint Presentation</vt:lpstr>
      <vt:lpstr>One question for each approach — three questions total. 1. Hands-On 2. Inquiry Based 3. Project Based </vt:lpstr>
      <vt:lpstr>Key idea:   Students learn science by doing science. - Moves from teacher-centered → student-driven learning - Builds critical thinking, problem-solving, collaboration, and creativity - Makes learning authentic through real-world challenges   Example: Instead of memorizing the water cycle, students design solutions to reduce water waste in their community. </vt:lpstr>
      <vt:lpstr>Core Elements of PBL</vt:lpstr>
      <vt:lpstr>Why Integrate Science into PBL?  Science naturally fits PBL because: - It’s based on curiosity and evidence  --Encourages hands-on investigation  --Connects to real-world phenomena  --Strengthens conceptual understanding through application  Goal: Move beyond memorizing facts to making sense of the world scientifically. </vt:lpstr>
      <vt:lpstr>PowerPoint Presentation</vt:lpstr>
      <vt:lpstr> </vt:lpstr>
      <vt:lpstr>Teacher Moves:  - Ask: "What makes you think that?"  - Encourage multiple solutions  - Scaffold reasoning, not answers </vt:lpstr>
      <vt:lpstr> </vt:lpstr>
      <vt:lpstr>Sample Rubric Dimensions:  1. Scientific understanding  2. Application of concept  3. Critical thinking 4. Creativity &amp; innovation  5. Communication &amp; teamwork</vt:lpstr>
      <vt:lpstr>PowerPoint Presentation</vt:lpstr>
      <vt:lpstr>Reflection</vt:lpstr>
      <vt:lpstr>"Hands-on learning is not enough — we want minds-on learning that builds curiosity, reasoning, and creativity."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Science</dc:creator>
  <cp:lastModifiedBy>Semiha Yildiz</cp:lastModifiedBy>
  <cp:revision>4</cp:revision>
  <cp:lastPrinted>2025-11-07T14:30:12Z</cp:lastPrinted>
  <dcterms:modified xsi:type="dcterms:W3CDTF">2025-11-12T14:05:01Z</dcterms:modified>
</cp:coreProperties>
</file>